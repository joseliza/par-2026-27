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_rels/notesSlide5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52.xml.rels" ContentType="application/vnd.openxmlformats-package.relationships+xml"/>
  <Override PartName="/ppt/notesSlides/notesSlide5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_rels/presentation.xml.rels" ContentType="application/vnd.openxmlformats-package.relationships+xml"/>
  <Override PartName="/ppt/media/image25.png" ContentType="image/png"/>
  <Override PartName="/ppt/media/image24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2.jpeg" ContentType="image/jpeg"/>
  <Override PartName="/ppt/media/image18.png" ContentType="image/png"/>
  <Override PartName="/ppt/media/image17.png" ContentType="image/png"/>
  <Override PartName="/ppt/media/image16.png" ContentType="image/png"/>
  <Override PartName="/ppt/media/image15.jpeg" ContentType="image/jpeg"/>
  <Override PartName="/ppt/media/image14.jpeg" ContentType="image/jpeg"/>
  <Override PartName="/ppt/media/image28.png" ContentType="image/png"/>
  <Override PartName="/ppt/media/image5.png" ContentType="image/png"/>
  <Override PartName="/ppt/media/image35.png" ContentType="image/png"/>
  <Override PartName="/ppt/media/image12.png" ContentType="image/png"/>
  <Override PartName="/ppt/media/image38.png" ContentType="image/png"/>
  <Override PartName="/ppt/media/image41.png" ContentType="image/png"/>
  <Override PartName="/ppt/media/image32.png" ContentType="image/png"/>
  <Override PartName="/ppt/media/image37.png" ContentType="image/png"/>
  <Override PartName="/ppt/media/image7.png" ContentType="image/png"/>
  <Override PartName="/ppt/media/image40.png" ContentType="image/png"/>
  <Override PartName="/ppt/media/image8.wmf" ContentType="image/x-wmf"/>
  <Override PartName="/ppt/media/image39.png" ContentType="image/png"/>
  <Override PartName="/ppt/media/image9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29.png" ContentType="image/png"/>
  <Override PartName="/ppt/media/image43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44.png" ContentType="image/png"/>
  <Override PartName="/ppt/media/image13.jpeg" ContentType="image/jpeg"/>
  <Override PartName="/ppt/media/image23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1.jpeg" ContentType="image/jpeg"/>
  <Override PartName="/ppt/media/image10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24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36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48.xml.rels" ContentType="application/vnd.openxmlformats-package.relationships+xml"/>
  <Override PartName="/ppt/slides/_rels/slide55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50.xml.rels" ContentType="application/vnd.openxmlformats-package.relationships+xml"/>
  <Override PartName="/ppt/slides/_rels/slide34.xml.rels" ContentType="application/vnd.openxmlformats-package.relationships+xml"/>
  <Override PartName="/ppt/slides/_rels/slide49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4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52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45.xml.rels" ContentType="application/vnd.openxmlformats-package.relationships+xml"/>
  <Override PartName="/ppt/slides/_rels/slide28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23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58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desplazar la diapositiva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2000" spc="-1" strike="noStrike">
                <a:latin typeface="Arial"/>
              </a:rPr>
              <a:t>Pulse para editar el formato de las notas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s-ES" sz="1400" spc="-1" strike="noStrike">
                <a:latin typeface="Times New Roman"/>
              </a:rPr>
              <a:t>&lt;cabecera&gt;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s-ES" sz="1400" spc="-1" strike="noStrike">
                <a:latin typeface="Times New Roman"/>
              </a:rPr>
              <a:t>&lt;fecha/hora&gt;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s-ES" sz="1400" spc="-1" strike="noStrike">
                <a:latin typeface="Times New Roman"/>
              </a:rPr>
              <a:t>&lt;pie de página&gt;</a:t>
            </a:r>
            <a:endParaRPr b="0" lang="es-ES" sz="1400" spc="-1" strike="noStrike">
              <a:latin typeface="Times New Roman"/>
            </a:endParaRPr>
          </a:p>
        </p:txBody>
      </p:sp>
      <p:sp>
        <p:nvSpPr>
          <p:cNvPr id="385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75D868D5-617A-4D9C-BBF9-D925917E00CD}" type="slidenum">
              <a:rPr b="0" lang="es-ES" sz="1400" spc="-1" strike="noStrike">
                <a:latin typeface="Times New Roman"/>
              </a:rPr>
              <a:t>&lt;número&gt;</a:t>
            </a:fld>
            <a:endParaRPr b="0" lang="es-E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latin typeface="Arial"/>
              </a:rPr>
              <a:t>Programa de la Academia de Redes de Cisco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latin typeface="Arial"/>
              </a:rPr>
              <a:t>Introducción a Redes v7.0 (ITN)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latin typeface="Arial"/>
              </a:rPr>
              <a:t>Módulo 1: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550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0BEB845-F4ED-414B-BBEE-CE2693FCD880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CustomShape 1"/>
          <p:cNvSpPr/>
          <p:nvPr/>
        </p:nvSpPr>
        <p:spPr>
          <a:xfrm>
            <a:off x="5929200" y="8680320"/>
            <a:ext cx="8121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rIns="18720" tIns="0" bIns="0" anchor="b">
            <a:noAutofit/>
          </a:bodyPr>
          <a:p>
            <a:pPr algn="r">
              <a:lnSpc>
                <a:spcPct val="100000"/>
              </a:lnSpc>
            </a:pPr>
            <a:fld id="{2056F907-3525-451C-82FD-18743582A200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5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latin typeface="Arial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latin typeface="Arial"/>
              </a:rPr>
              <a:t>1.0.2 – ¿Qué aprenderé a hacer en este módulo?</a:t>
            </a:r>
            <a:endParaRPr b="0" lang="es-ES" sz="20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latin typeface="Arial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latin typeface="Arial"/>
              </a:rPr>
              <a:t>1.1 – Las redes afectan nuestras vidas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556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9160CA2D-F5E2-495A-8539-DBBF532E14D0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1D02D1C-30DE-465A-8AC1-0490EFACBEE9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5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 – Las redes afectan nuestras vidas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1.1.1 — </a:t>
            </a:r>
            <a:r>
              <a:rPr b="0" lang="es-419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nos conectan</a:t>
            </a:r>
            <a:endParaRPr b="0" lang="es-E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7FD99BF-9C23-490E-BCB9-B43765624201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6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 – Las redes afectan nuestras vidas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1.1.2 – </a:t>
            </a:r>
            <a:r>
              <a:rPr b="0" lang="es-419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Video: la experiencia de aprendizaje de Cisco Networking Academy</a:t>
            </a:r>
            <a:endParaRPr b="0" lang="es-ES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8DCDB073-FB8F-4B42-988F-BBDFB464C428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6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 – Las redes afectan nuestras vidas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1.1.3 Sin límites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 – Componentes de red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568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E4381A62-3E2E-425E-A1C5-72EB8C263B9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7CDAD39-C69B-48A0-8210-50D68A272D06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7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 – Componentes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1.2.1— Roles de host</a:t>
            </a:r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512EE30-5A5C-44E6-8CBE-6F43D03ECF3F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7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 – Componentes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1.2.2 – Punto a Punto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4F7AF2E-340A-476E-AA98-6203197F81C0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7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 – Componentes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1.2.3 – Dispositivos finales</a:t>
            </a:r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 – Componentes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1.2.4 – </a:t>
            </a:r>
            <a:r>
              <a:rPr b="0" lang="es-419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Dispositivos de red intermedios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580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D920869-8CE2-46C8-9533-B145486A198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8E94112-A868-4AE6-908E-06D293BD0922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8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 – Componentes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1.2.5 – </a:t>
            </a:r>
            <a:r>
              <a:rPr b="0" lang="es-419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Medios de red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1.2.6 – Verifique su comprensión - Componentes de red</a:t>
            </a:r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1.3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Representaciones de red y topologías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586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3D61164-3507-4E7F-AA75-9908F03A9F4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1.3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Representaciones de red y topologías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1.3.1 – Representaciones de red 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589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348F1DF-330B-4504-A985-65D0207C0CB1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1.3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Representaciones de red y topologías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1.3.2 – Diagramas de topología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1.3.3 — Compruebe su comprensión — Representación de redes y topologías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592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57F1A60-552F-4E82-B155-05DA5C93EFD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1.4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Tipos comunes de redes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595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AE6B6619-3F42-4210-B057-9A9C97552AF1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1.4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Tipos comunes de redes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1.4.1 – Redes de muchos tamaños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598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6D3452C-61AE-4087-BC45-F8D9692FE27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1F2BB45-21AC-4398-8321-13139B8814B6}" type="slidenum">
              <a:rPr b="0" lang="es-ES" sz="800" spc="-1" strike="noStrike">
                <a:solidFill>
                  <a:srgbClr val="000000"/>
                </a:solidFill>
                <a:latin typeface="Arial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01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1.4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Tipos comunes de redes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1.4.2 – LANs y WANs</a:t>
            </a:r>
            <a:endParaRPr b="0" lang="es-ES" sz="2000" spc="-1" strike="noStrike"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1.4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Tipos comunes de redes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1.4.2 — LAN y WAN (continuación)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04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4C1B992-2752-4BE8-A1FD-082638A92E3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1.4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Tipos comunes de redes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1.4.3 —  Internet 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07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ED34D79D-6354-4085-B87E-975E25BFC521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1.4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Tipos comunes de redes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1.4.4 – Intranets  y Extranets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1.4.5 – Verifique su comprensión - Tipos comunes de redes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610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3B00120B-B6E2-4E06-95B5-505009FB7503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613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D07EDA9-AE9B-49BD-97F4-3EA3EF86EB6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1.5.1 – Tecnologías de acceso a Internet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16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8912E19-04C2-4F24-9546-844813177C43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1.5.2 – Conexiones a Internet para oficinas pequeñas y oficinas en el hogar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19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43F24EA-3E9C-4AA4-A60D-63A0BCC5CB9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1.5.3 – Conexiones a Internet empresariales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22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81DC85F0-9893-47C6-9C1D-23D93A826362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1.5.5 – La red convergente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25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9DA631C-568E-436B-A538-4F2D839EBB06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1.5.5 — La red convergente (Cont.)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28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6FF8C612-54F8-49EE-9979-D71C0A7CECA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1.5.5 – Video - Descargue e instale Packet Tracer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631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A13CEC4-07F8-4896-80B2-037C299D995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1.5.6 — Vídeo — Introducción a Cisco Packet Tracer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634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BFE8DCB-86E6-4719-A326-C73EF8E07ED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1.5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Conexiones de internet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1.5.7 – Packet Tracer – Representación de red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637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25F90C65-B52F-468D-AA13-BCD0ECFB76B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1.6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Redes confiables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640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2ACBFC4-E02A-48D8-B177-714C57B7DF83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1.6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Redes confiables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1.6.1 – Red de arquitectura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43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72D9697-DA60-4F6B-B610-E96FCAA59B6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1.6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Redes confiables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1.6.2 –  Tolerancia a fallos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46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32748A8-7E0E-4015-BA3E-20E2B58CA6F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1.6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Redes confiables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1.6.3 – Escalabilidad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49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01F2036-680E-457E-8840-6D8AFC8C865B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1.6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Redes confiables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1.6.4 – Calidad de servicio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52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CF511E3-ADC1-4F0B-890E-4CA0F37D2F6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1.6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Redes confiables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1.6.5 — Seguridad de la red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1.6.6 — Compruebe su comprensión — Redes fiables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655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F4B3062-EBBE-4C85-9B66-63C3DF4966C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658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6DCBA2A-53DA-47FC-AED9-91DD37FF6EF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1.7.1 — Tendenciasrecientes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61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AE3EF109-C7BF-4FDD-8CE6-39D8784852A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1.7.2 – Bring Your Own Device (BYOD)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64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FF9D1A34-B05E-4BAB-9084-8A28D1FAE22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1.7.3 – Colaboración en línea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67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804CACB7-9FD8-45EE-B39E-D550A5AD4B4F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1.7.4 – Comunicación por video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70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D425CCC-08E7-4B7A-ACAD-C050F2DD2B3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1.7.5 — Vídeo — Cisco WebEx para Reuniones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673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95414A1-C7FA-4F4C-B6F2-282F457F960B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1.7.6 – Computación en la nube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76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836DAD91-FB1F-4230-858B-DABC5A004561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1.7.6 — Computación en la nube (cont.)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79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F8636CE-D974-4E48-8D92-5ADB80BD937F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1.7.7 – Tecnología  Tendencias en el hogar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682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2C51D073-ED0B-46DA-AEDD-287193C263F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1.7.8 – Redes por línea eléctrica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685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73190E59-61B5-4DD3-A727-7F7B84410AB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1.7 –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1.7.9 – Banda ancha inalámbrica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1.7.10 – Verifique su comprensión - Tendencias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688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8CB9E57-5E94-4971-B7F0-AD122077F586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1.8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Seguridad de la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691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9F7F162B-2A4D-42D0-BBF4-6A319F7F9E22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1.8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Seguridad de la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1.8.1 – Amenazas de seguridad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694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613B67C-5519-4D75-8C93-1B6EB0BE73C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1.8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Seguridad de la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1.8.1 – Amenazas de seguridad (Cont.)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697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CE256742-69E8-413F-A779-1A733F08A2BF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1.8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Seguridad de la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1.8.2 – Soluciones de seguridad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700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36B1F49-23F7-478E-A00C-B06D4598B96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1.8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Seguridad de la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1.8.2 — Soluciones de seguridad (cont.) 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1.8.3 – Verifique su comprensión - Seguridad de red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703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948505D-EE2C-4A79-B2E4-B31810B7F2D6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1.9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El profesional de TI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706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FAA7173-83E2-47CA-86B1-C9B78EF7A59D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1.9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El profesional de TI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1.9.1 — CCNA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Diagrama de https://newsroom.cisco.com/press-release-content?type=webcontent&amp;articleId=1993077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2000" spc="-1" strike="noStrike">
              <a:latin typeface="Arial"/>
            </a:endParaRPr>
          </a:p>
        </p:txBody>
      </p:sp>
      <p:sp>
        <p:nvSpPr>
          <p:cNvPr id="709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0CFD685-D431-44EC-AF9B-AB85352D190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1.9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El profesional de TI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1.9.2 — Trabajos de creación de redes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712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470E1729-DA9B-4781-B8CB-3C19F64A307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1.9 —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El profesional de TI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1.9.3 – Lab – Investigación de oportunidades de trabajo en redes y TI 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715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A85DA077-51A6-4618-A5AB-88EAAE2D17F0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1.10 – </a:t>
            </a: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Módulo de Práctica y Prueba 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718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BA49ECA6-6F38-4826-B124-992DDC6A504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1.10 – </a:t>
            </a: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Módulo de Práctica y Prueba 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1.10.1 – ¿Qué aprendí en este módulo?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721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D11298C5-32D9-4A3A-A965-BAE1D5D9B2F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1.10 – </a:t>
            </a: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Módulo de Práctica y Prueba 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1.10.1 – ¿Qué aprendí en este módulo? (continuación)</a:t>
            </a:r>
            <a:endParaRPr b="0" lang="es-ES" sz="20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1.10.2 </a:t>
            </a:r>
            <a:r>
              <a:rPr b="0" lang="es-419" sz="12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– Prueba de módulo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  <p:sp>
        <p:nvSpPr>
          <p:cNvPr id="724" name="CustomShape 3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115C315B-4573-4938-BE70-7458D6C9323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1200" spc="-1" strike="noStrike">
              <a:latin typeface="Arial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CustomShape 1"/>
          <p:cNvSpPr/>
          <p:nvPr/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05D47013-A1F9-44BC-A8D7-6728DD2930D3}" type="slidenum">
              <a:rPr b="0" lang="es-E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&lt;número&gt;</a:t>
            </a:fld>
            <a:endParaRPr b="0" lang="es-ES" sz="800" spc="-1" strike="noStrike"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</p:spPr>
      </p:sp>
      <p:sp>
        <p:nvSpPr>
          <p:cNvPr id="72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1 – Redes hoy</a:t>
            </a:r>
            <a:endParaRPr b="0" lang="es-ES" sz="1200" spc="-1" strike="noStrike">
              <a:latin typeface="Arial"/>
            </a:endParaRPr>
          </a:p>
          <a:p>
            <a:pPr marL="216000" indent="-215640">
              <a:lnSpc>
                <a:spcPct val="80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Nuevos términos y comandos</a:t>
            </a:r>
            <a:endParaRPr b="0" lang="es-E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 hidden="1"/>
          <p:cNvSpPr/>
          <p:nvPr/>
        </p:nvSpPr>
        <p:spPr>
          <a:xfrm>
            <a:off x="8389080" y="4743360"/>
            <a:ext cx="471600" cy="15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</a:pPr>
            <a:fld id="{6DB73E20-99DE-4278-8ADB-8965EA4202AE}" type="slidenum">
              <a:rPr b="0" lang="en-US" sz="600" spc="-1" strike="noStrike">
                <a:solidFill>
                  <a:srgbClr val="d9d9d9"/>
                </a:solidFill>
                <a:latin typeface="Arial"/>
                <a:ea typeface="DejaVu Sans"/>
              </a:rPr>
              <a:t>&lt;número&gt;</a:t>
            </a:fld>
            <a:endParaRPr b="0" lang="es-ES" sz="600" spc="-1" strike="noStrike">
              <a:latin typeface="Arial"/>
            </a:endParaRPr>
          </a:p>
        </p:txBody>
      </p:sp>
      <p:sp>
        <p:nvSpPr>
          <p:cNvPr id="1" name="CustomShape 2" hidden="1"/>
          <p:cNvSpPr/>
          <p:nvPr/>
        </p:nvSpPr>
        <p:spPr>
          <a:xfrm>
            <a:off x="5493600" y="4650840"/>
            <a:ext cx="3031200" cy="244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</a:pPr>
            <a:r>
              <a:rPr b="0" lang="es-419" sz="600" spc="-1" strike="noStrike">
                <a:solidFill>
                  <a:srgbClr val="d9d9d9"/>
                </a:solidFill>
                <a:latin typeface="Arial"/>
                <a:ea typeface="DejaVu Sans"/>
              </a:rPr>
              <a:t>© 2021 Cisco y/o sus filiales. Todos los derechos reservados.   Información confidencial de Cisco</a:t>
            </a:r>
            <a:endParaRPr b="0" lang="es-ES" sz="600" spc="-1" strike="noStrike">
              <a:latin typeface="Arial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07960" y="4715280"/>
            <a:ext cx="339480" cy="180000"/>
            <a:chOff x="507960" y="4715280"/>
            <a:chExt cx="339480" cy="180000"/>
          </a:xfrm>
        </p:grpSpPr>
        <p:sp>
          <p:nvSpPr>
            <p:cNvPr id="3" name="CustomShape 4"/>
            <p:cNvSpPr/>
            <p:nvPr/>
          </p:nvSpPr>
          <p:spPr>
            <a:xfrm>
              <a:off x="604440" y="4835160"/>
              <a:ext cx="14040" cy="5904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694440" y="4834440"/>
              <a:ext cx="4392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538560" y="4834440"/>
              <a:ext cx="4464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755280" y="4834440"/>
              <a:ext cx="60840" cy="608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639000" y="4834440"/>
              <a:ext cx="39960" cy="608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50796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54864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58932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CustomShape 12"/>
            <p:cNvSpPr/>
            <p:nvPr/>
          </p:nvSpPr>
          <p:spPr>
            <a:xfrm>
              <a:off x="63000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CustomShape 13"/>
            <p:cNvSpPr/>
            <p:nvPr/>
          </p:nvSpPr>
          <p:spPr>
            <a:xfrm>
              <a:off x="67068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CustomShape 14"/>
            <p:cNvSpPr/>
            <p:nvPr/>
          </p:nvSpPr>
          <p:spPr>
            <a:xfrm>
              <a:off x="71136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CustomShape 15"/>
            <p:cNvSpPr/>
            <p:nvPr/>
          </p:nvSpPr>
          <p:spPr>
            <a:xfrm>
              <a:off x="75204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CustomShape 16"/>
            <p:cNvSpPr/>
            <p:nvPr/>
          </p:nvSpPr>
          <p:spPr>
            <a:xfrm>
              <a:off x="79272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CustomShape 17"/>
            <p:cNvSpPr/>
            <p:nvPr/>
          </p:nvSpPr>
          <p:spPr>
            <a:xfrm>
              <a:off x="83340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" name="Picture 2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grpSp>
        <p:nvGrpSpPr>
          <p:cNvPr id="18" name="Group 18"/>
          <p:cNvGrpSpPr/>
          <p:nvPr/>
        </p:nvGrpSpPr>
        <p:grpSpPr>
          <a:xfrm>
            <a:off x="492120" y="395280"/>
            <a:ext cx="796320" cy="423000"/>
            <a:chOff x="492120" y="395280"/>
            <a:chExt cx="796320" cy="423000"/>
          </a:xfrm>
        </p:grpSpPr>
        <p:sp>
          <p:nvSpPr>
            <p:cNvPr id="19" name="CustomShape 19"/>
            <p:cNvSpPr/>
            <p:nvPr/>
          </p:nvSpPr>
          <p:spPr>
            <a:xfrm>
              <a:off x="717480" y="676440"/>
              <a:ext cx="34200" cy="13896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CustomShape 20"/>
            <p:cNvSpPr/>
            <p:nvPr/>
          </p:nvSpPr>
          <p:spPr>
            <a:xfrm>
              <a:off x="928800" y="674640"/>
              <a:ext cx="104040" cy="1436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CustomShape 21"/>
            <p:cNvSpPr/>
            <p:nvPr/>
          </p:nvSpPr>
          <p:spPr>
            <a:xfrm>
              <a:off x="563400" y="674640"/>
              <a:ext cx="105480" cy="1436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" name="CustomShape 22"/>
            <p:cNvSpPr/>
            <p:nvPr/>
          </p:nvSpPr>
          <p:spPr>
            <a:xfrm>
              <a:off x="1071720" y="674640"/>
              <a:ext cx="143640" cy="1436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" name="CustomShape 23"/>
            <p:cNvSpPr/>
            <p:nvPr/>
          </p:nvSpPr>
          <p:spPr>
            <a:xfrm>
              <a:off x="798480" y="674640"/>
              <a:ext cx="94680" cy="1436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CustomShape 24"/>
            <p:cNvSpPr/>
            <p:nvPr/>
          </p:nvSpPr>
          <p:spPr>
            <a:xfrm>
              <a:off x="492120" y="509760"/>
              <a:ext cx="34200" cy="7056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CustomShape 25"/>
            <p:cNvSpPr/>
            <p:nvPr/>
          </p:nvSpPr>
          <p:spPr>
            <a:xfrm>
              <a:off x="587520" y="461880"/>
              <a:ext cx="34200" cy="1184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" name="CustomShape 26"/>
            <p:cNvSpPr/>
            <p:nvPr/>
          </p:nvSpPr>
          <p:spPr>
            <a:xfrm>
              <a:off x="682560" y="395280"/>
              <a:ext cx="34200" cy="219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" name="CustomShape 27"/>
            <p:cNvSpPr/>
            <p:nvPr/>
          </p:nvSpPr>
          <p:spPr>
            <a:xfrm>
              <a:off x="777960" y="461880"/>
              <a:ext cx="34200" cy="1184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CustomShape 28"/>
            <p:cNvSpPr/>
            <p:nvPr/>
          </p:nvSpPr>
          <p:spPr>
            <a:xfrm>
              <a:off x="873000" y="509760"/>
              <a:ext cx="34200" cy="7056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CustomShape 29"/>
            <p:cNvSpPr/>
            <p:nvPr/>
          </p:nvSpPr>
          <p:spPr>
            <a:xfrm>
              <a:off x="968400" y="461880"/>
              <a:ext cx="34200" cy="1184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CustomShape 30"/>
            <p:cNvSpPr/>
            <p:nvPr/>
          </p:nvSpPr>
          <p:spPr>
            <a:xfrm>
              <a:off x="1063800" y="395280"/>
              <a:ext cx="34200" cy="219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CustomShape 31"/>
            <p:cNvSpPr/>
            <p:nvPr/>
          </p:nvSpPr>
          <p:spPr>
            <a:xfrm>
              <a:off x="1158840" y="461880"/>
              <a:ext cx="34200" cy="1184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CustomShape 32"/>
            <p:cNvSpPr/>
            <p:nvPr/>
          </p:nvSpPr>
          <p:spPr>
            <a:xfrm>
              <a:off x="1254240" y="509760"/>
              <a:ext cx="34200" cy="7056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3" name="PlaceHolder 3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34" name="PlaceHolder 3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8389080" y="4743360"/>
            <a:ext cx="471600" cy="15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</a:pPr>
            <a:fld id="{85DA05BA-3BCE-4C36-B328-84D88D6CD393}" type="slidenum">
              <a:rPr b="0" lang="en-US" sz="600" spc="-1" strike="noStrike">
                <a:solidFill>
                  <a:srgbClr val="d9d9d9"/>
                </a:solidFill>
                <a:latin typeface="Arial"/>
                <a:ea typeface="DejaVu Sans"/>
              </a:rPr>
              <a:t>&lt;número&gt;</a:t>
            </a:fld>
            <a:endParaRPr b="0" lang="es-ES" sz="600" spc="-1" strike="noStrike">
              <a:latin typeface="Arial"/>
            </a:endParaRPr>
          </a:p>
        </p:txBody>
      </p:sp>
      <p:sp>
        <p:nvSpPr>
          <p:cNvPr id="72" name="CustomShape 2"/>
          <p:cNvSpPr/>
          <p:nvPr/>
        </p:nvSpPr>
        <p:spPr>
          <a:xfrm>
            <a:off x="5493600" y="4650840"/>
            <a:ext cx="3031200" cy="244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</a:pPr>
            <a:r>
              <a:rPr b="0" lang="es-419" sz="600" spc="-1" strike="noStrike">
                <a:solidFill>
                  <a:srgbClr val="d9d9d9"/>
                </a:solidFill>
                <a:latin typeface="Arial"/>
                <a:ea typeface="DejaVu Sans"/>
              </a:rPr>
              <a:t>© 2021 Cisco y/o sus filiales. Todos los derechos reservados.   Información confidencial de Cisco</a:t>
            </a:r>
            <a:endParaRPr b="0" lang="es-ES" sz="600" spc="-1" strike="noStrike">
              <a:latin typeface="Arial"/>
            </a:endParaRPr>
          </a:p>
        </p:txBody>
      </p:sp>
      <p:grpSp>
        <p:nvGrpSpPr>
          <p:cNvPr id="73" name="Group 3"/>
          <p:cNvGrpSpPr/>
          <p:nvPr/>
        </p:nvGrpSpPr>
        <p:grpSpPr>
          <a:xfrm>
            <a:off x="507960" y="4715280"/>
            <a:ext cx="339480" cy="180000"/>
            <a:chOff x="507960" y="4715280"/>
            <a:chExt cx="339480" cy="180000"/>
          </a:xfrm>
        </p:grpSpPr>
        <p:sp>
          <p:nvSpPr>
            <p:cNvPr id="74" name="CustomShape 4"/>
            <p:cNvSpPr/>
            <p:nvPr/>
          </p:nvSpPr>
          <p:spPr>
            <a:xfrm>
              <a:off x="604440" y="4835160"/>
              <a:ext cx="14040" cy="5904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CustomShape 5"/>
            <p:cNvSpPr/>
            <p:nvPr/>
          </p:nvSpPr>
          <p:spPr>
            <a:xfrm>
              <a:off x="694440" y="4834440"/>
              <a:ext cx="4392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CustomShape 6"/>
            <p:cNvSpPr/>
            <p:nvPr/>
          </p:nvSpPr>
          <p:spPr>
            <a:xfrm>
              <a:off x="538560" y="4834440"/>
              <a:ext cx="4464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CustomShape 7"/>
            <p:cNvSpPr/>
            <p:nvPr/>
          </p:nvSpPr>
          <p:spPr>
            <a:xfrm>
              <a:off x="755280" y="4834440"/>
              <a:ext cx="60840" cy="608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CustomShape 8"/>
            <p:cNvSpPr/>
            <p:nvPr/>
          </p:nvSpPr>
          <p:spPr>
            <a:xfrm>
              <a:off x="639000" y="4834440"/>
              <a:ext cx="39960" cy="608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CustomShape 9"/>
            <p:cNvSpPr/>
            <p:nvPr/>
          </p:nvSpPr>
          <p:spPr>
            <a:xfrm>
              <a:off x="50796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CustomShape 10"/>
            <p:cNvSpPr/>
            <p:nvPr/>
          </p:nvSpPr>
          <p:spPr>
            <a:xfrm>
              <a:off x="54864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CustomShape 11"/>
            <p:cNvSpPr/>
            <p:nvPr/>
          </p:nvSpPr>
          <p:spPr>
            <a:xfrm>
              <a:off x="58932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CustomShape 12"/>
            <p:cNvSpPr/>
            <p:nvPr/>
          </p:nvSpPr>
          <p:spPr>
            <a:xfrm>
              <a:off x="63000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CustomShape 13"/>
            <p:cNvSpPr/>
            <p:nvPr/>
          </p:nvSpPr>
          <p:spPr>
            <a:xfrm>
              <a:off x="67068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CustomShape 14"/>
            <p:cNvSpPr/>
            <p:nvPr/>
          </p:nvSpPr>
          <p:spPr>
            <a:xfrm>
              <a:off x="71136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CustomShape 15"/>
            <p:cNvSpPr/>
            <p:nvPr/>
          </p:nvSpPr>
          <p:spPr>
            <a:xfrm>
              <a:off x="75204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CustomShape 16"/>
            <p:cNvSpPr/>
            <p:nvPr/>
          </p:nvSpPr>
          <p:spPr>
            <a:xfrm>
              <a:off x="79272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CustomShape 17"/>
            <p:cNvSpPr/>
            <p:nvPr/>
          </p:nvSpPr>
          <p:spPr>
            <a:xfrm>
              <a:off x="83340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8" name="PlaceHolder 18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89" name="PlaceHolder 19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8389080" y="4743360"/>
            <a:ext cx="471600" cy="15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</a:pPr>
            <a:fld id="{F557A150-6974-4200-8B8F-CB56230E6F53}" type="slidenum">
              <a:rPr b="0" lang="en-US" sz="600" spc="-1" strike="noStrike">
                <a:solidFill>
                  <a:srgbClr val="d9d9d9"/>
                </a:solidFill>
                <a:latin typeface="Arial"/>
                <a:ea typeface="DejaVu Sans"/>
              </a:rPr>
              <a:t>&lt;número&gt;</a:t>
            </a:fld>
            <a:endParaRPr b="0" lang="es-ES" sz="6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5622120" y="4650840"/>
            <a:ext cx="2902680" cy="244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</a:pPr>
            <a:r>
              <a:rPr b="0" lang="es-419" sz="600" spc="-1" strike="noStrike">
                <a:solidFill>
                  <a:srgbClr val="d9d9d9"/>
                </a:solidFill>
                <a:latin typeface="Arial"/>
                <a:ea typeface="DejaVu Sans"/>
              </a:rPr>
              <a:t>© 2021 Cisco y/o sus filiales. Todos los derechos reservados.   Información confidencial de Cisco</a:t>
            </a:r>
            <a:endParaRPr b="0" lang="es-ES" sz="600" spc="-1" strike="noStrike">
              <a:latin typeface="Arial"/>
            </a:endParaRPr>
          </a:p>
        </p:txBody>
      </p:sp>
      <p:grpSp>
        <p:nvGrpSpPr>
          <p:cNvPr id="128" name="Group 3"/>
          <p:cNvGrpSpPr/>
          <p:nvPr/>
        </p:nvGrpSpPr>
        <p:grpSpPr>
          <a:xfrm>
            <a:off x="507960" y="4715280"/>
            <a:ext cx="339480" cy="180000"/>
            <a:chOff x="507960" y="4715280"/>
            <a:chExt cx="339480" cy="180000"/>
          </a:xfrm>
        </p:grpSpPr>
        <p:sp>
          <p:nvSpPr>
            <p:cNvPr id="129" name="CustomShape 4"/>
            <p:cNvSpPr/>
            <p:nvPr/>
          </p:nvSpPr>
          <p:spPr>
            <a:xfrm>
              <a:off x="604440" y="4835160"/>
              <a:ext cx="14040" cy="5904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CustomShape 5"/>
            <p:cNvSpPr/>
            <p:nvPr/>
          </p:nvSpPr>
          <p:spPr>
            <a:xfrm>
              <a:off x="694440" y="4834440"/>
              <a:ext cx="4392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CustomShape 6"/>
            <p:cNvSpPr/>
            <p:nvPr/>
          </p:nvSpPr>
          <p:spPr>
            <a:xfrm>
              <a:off x="538560" y="4834440"/>
              <a:ext cx="4464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CustomShape 7"/>
            <p:cNvSpPr/>
            <p:nvPr/>
          </p:nvSpPr>
          <p:spPr>
            <a:xfrm>
              <a:off x="755280" y="4834440"/>
              <a:ext cx="60840" cy="608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CustomShape 8"/>
            <p:cNvSpPr/>
            <p:nvPr/>
          </p:nvSpPr>
          <p:spPr>
            <a:xfrm>
              <a:off x="639000" y="4834440"/>
              <a:ext cx="39960" cy="608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CustomShape 9"/>
            <p:cNvSpPr/>
            <p:nvPr/>
          </p:nvSpPr>
          <p:spPr>
            <a:xfrm>
              <a:off x="50796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CustomShape 10"/>
            <p:cNvSpPr/>
            <p:nvPr/>
          </p:nvSpPr>
          <p:spPr>
            <a:xfrm>
              <a:off x="54864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CustomShape 11"/>
            <p:cNvSpPr/>
            <p:nvPr/>
          </p:nvSpPr>
          <p:spPr>
            <a:xfrm>
              <a:off x="58932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CustomShape 12"/>
            <p:cNvSpPr/>
            <p:nvPr/>
          </p:nvSpPr>
          <p:spPr>
            <a:xfrm>
              <a:off x="63000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CustomShape 13"/>
            <p:cNvSpPr/>
            <p:nvPr/>
          </p:nvSpPr>
          <p:spPr>
            <a:xfrm>
              <a:off x="67068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CustomShape 14"/>
            <p:cNvSpPr/>
            <p:nvPr/>
          </p:nvSpPr>
          <p:spPr>
            <a:xfrm>
              <a:off x="71136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CustomShape 15"/>
            <p:cNvSpPr/>
            <p:nvPr/>
          </p:nvSpPr>
          <p:spPr>
            <a:xfrm>
              <a:off x="75204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CustomShape 16"/>
            <p:cNvSpPr/>
            <p:nvPr/>
          </p:nvSpPr>
          <p:spPr>
            <a:xfrm>
              <a:off x="79272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CustomShape 17"/>
            <p:cNvSpPr/>
            <p:nvPr/>
          </p:nvSpPr>
          <p:spPr>
            <a:xfrm>
              <a:off x="83340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3" name="PlaceHolder 18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144" name="PlaceHolder 19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 hidden="1"/>
          <p:cNvSpPr/>
          <p:nvPr/>
        </p:nvSpPr>
        <p:spPr>
          <a:xfrm>
            <a:off x="8389080" y="4743360"/>
            <a:ext cx="471600" cy="15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</a:pPr>
            <a:fld id="{5878ED10-A30E-4FA4-A94D-DD26769AF55A}" type="slidenum">
              <a:rPr b="0" lang="en-US" sz="600" spc="-1" strike="noStrike">
                <a:solidFill>
                  <a:srgbClr val="d9d9d9"/>
                </a:solidFill>
                <a:latin typeface="Arial"/>
                <a:ea typeface="DejaVu Sans"/>
              </a:rPr>
              <a:t>&lt;número&gt;</a:t>
            </a:fld>
            <a:endParaRPr b="0" lang="es-ES" sz="600" spc="-1" strike="noStrike">
              <a:latin typeface="Arial"/>
            </a:endParaRPr>
          </a:p>
        </p:txBody>
      </p:sp>
      <p:sp>
        <p:nvSpPr>
          <p:cNvPr id="182" name="CustomShape 2" hidden="1"/>
          <p:cNvSpPr/>
          <p:nvPr/>
        </p:nvSpPr>
        <p:spPr>
          <a:xfrm>
            <a:off x="5493600" y="4650840"/>
            <a:ext cx="3031200" cy="244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</a:pPr>
            <a:r>
              <a:rPr b="0" lang="es-419" sz="600" spc="-1" strike="noStrike">
                <a:solidFill>
                  <a:srgbClr val="d9d9d9"/>
                </a:solidFill>
                <a:latin typeface="Arial"/>
                <a:ea typeface="DejaVu Sans"/>
              </a:rPr>
              <a:t>© 2021 Cisco y/o sus filiales. Todos los derechos reservados.   Información confidencial de Cisco</a:t>
            </a:r>
            <a:endParaRPr b="0" lang="es-ES" sz="600" spc="-1" strike="noStrike">
              <a:latin typeface="Arial"/>
            </a:endParaRPr>
          </a:p>
        </p:txBody>
      </p:sp>
      <p:grpSp>
        <p:nvGrpSpPr>
          <p:cNvPr id="183" name="Group 3"/>
          <p:cNvGrpSpPr/>
          <p:nvPr/>
        </p:nvGrpSpPr>
        <p:grpSpPr>
          <a:xfrm>
            <a:off x="507960" y="4715280"/>
            <a:ext cx="339480" cy="180000"/>
            <a:chOff x="507960" y="4715280"/>
            <a:chExt cx="339480" cy="180000"/>
          </a:xfrm>
        </p:grpSpPr>
        <p:sp>
          <p:nvSpPr>
            <p:cNvPr id="184" name="CustomShape 4"/>
            <p:cNvSpPr/>
            <p:nvPr/>
          </p:nvSpPr>
          <p:spPr>
            <a:xfrm>
              <a:off x="604440" y="4835160"/>
              <a:ext cx="14040" cy="5904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CustomShape 5"/>
            <p:cNvSpPr/>
            <p:nvPr/>
          </p:nvSpPr>
          <p:spPr>
            <a:xfrm>
              <a:off x="694440" y="4834440"/>
              <a:ext cx="4392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CustomShape 6"/>
            <p:cNvSpPr/>
            <p:nvPr/>
          </p:nvSpPr>
          <p:spPr>
            <a:xfrm>
              <a:off x="538560" y="4834440"/>
              <a:ext cx="4464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CustomShape 7"/>
            <p:cNvSpPr/>
            <p:nvPr/>
          </p:nvSpPr>
          <p:spPr>
            <a:xfrm>
              <a:off x="755280" y="4834440"/>
              <a:ext cx="60840" cy="608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CustomShape 8"/>
            <p:cNvSpPr/>
            <p:nvPr/>
          </p:nvSpPr>
          <p:spPr>
            <a:xfrm>
              <a:off x="639000" y="4834440"/>
              <a:ext cx="39960" cy="608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CustomShape 9"/>
            <p:cNvSpPr/>
            <p:nvPr/>
          </p:nvSpPr>
          <p:spPr>
            <a:xfrm>
              <a:off x="50796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CustomShape 10"/>
            <p:cNvSpPr/>
            <p:nvPr/>
          </p:nvSpPr>
          <p:spPr>
            <a:xfrm>
              <a:off x="54864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CustomShape 11"/>
            <p:cNvSpPr/>
            <p:nvPr/>
          </p:nvSpPr>
          <p:spPr>
            <a:xfrm>
              <a:off x="58932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CustomShape 12"/>
            <p:cNvSpPr/>
            <p:nvPr/>
          </p:nvSpPr>
          <p:spPr>
            <a:xfrm>
              <a:off x="63000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CustomShape 13"/>
            <p:cNvSpPr/>
            <p:nvPr/>
          </p:nvSpPr>
          <p:spPr>
            <a:xfrm>
              <a:off x="67068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CustomShape 14"/>
            <p:cNvSpPr/>
            <p:nvPr/>
          </p:nvSpPr>
          <p:spPr>
            <a:xfrm>
              <a:off x="71136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CustomShape 15"/>
            <p:cNvSpPr/>
            <p:nvPr/>
          </p:nvSpPr>
          <p:spPr>
            <a:xfrm>
              <a:off x="75204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CustomShape 16"/>
            <p:cNvSpPr/>
            <p:nvPr/>
          </p:nvSpPr>
          <p:spPr>
            <a:xfrm>
              <a:off x="79272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CustomShape 17"/>
            <p:cNvSpPr/>
            <p:nvPr/>
          </p:nvSpPr>
          <p:spPr>
            <a:xfrm>
              <a:off x="83340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8" name="CustomShape 18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0039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CustomShape 19"/>
          <p:cNvSpPr/>
          <p:nvPr/>
        </p:nvSpPr>
        <p:spPr>
          <a:xfrm>
            <a:off x="8389080" y="4743360"/>
            <a:ext cx="471600" cy="15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</a:pPr>
            <a:fld id="{48A9FD2D-D16E-4AA3-95EC-3CDB4BA50D76}" type="slidenum">
              <a:rPr b="0" lang="en-US" sz="600" spc="-1" strike="noStrike">
                <a:solidFill>
                  <a:srgbClr val="086d8e"/>
                </a:solidFill>
                <a:latin typeface="Arial"/>
                <a:ea typeface="DejaVu Sans"/>
              </a:rPr>
              <a:t>&lt;número&gt;</a:t>
            </a:fld>
            <a:endParaRPr b="0" lang="es-ES" sz="600" spc="-1" strike="noStrike">
              <a:latin typeface="Arial"/>
            </a:endParaRPr>
          </a:p>
        </p:txBody>
      </p:sp>
      <p:sp>
        <p:nvSpPr>
          <p:cNvPr id="200" name="CustomShape 20"/>
          <p:cNvSpPr/>
          <p:nvPr/>
        </p:nvSpPr>
        <p:spPr>
          <a:xfrm>
            <a:off x="5867640" y="4650840"/>
            <a:ext cx="2657160" cy="244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</a:pPr>
            <a:r>
              <a:rPr b="0" lang="es-419" sz="600" spc="-1" strike="noStrike">
                <a:solidFill>
                  <a:srgbClr val="086d8e"/>
                </a:solidFill>
                <a:latin typeface="Arial"/>
                <a:ea typeface="DejaVu Sans"/>
              </a:rPr>
              <a:t>© 2016 Cisco y/o sus filiales. Todos los derechos reservados.   Información confidencial de Cisco</a:t>
            </a:r>
            <a:endParaRPr b="0" lang="es-ES" sz="600" spc="-1" strike="noStrike">
              <a:latin typeface="Arial"/>
            </a:endParaRPr>
          </a:p>
        </p:txBody>
      </p:sp>
      <p:grpSp>
        <p:nvGrpSpPr>
          <p:cNvPr id="201" name="Group 21"/>
          <p:cNvGrpSpPr/>
          <p:nvPr/>
        </p:nvGrpSpPr>
        <p:grpSpPr>
          <a:xfrm>
            <a:off x="507960" y="4715280"/>
            <a:ext cx="339480" cy="180000"/>
            <a:chOff x="507960" y="4715280"/>
            <a:chExt cx="339480" cy="180000"/>
          </a:xfrm>
        </p:grpSpPr>
        <p:sp>
          <p:nvSpPr>
            <p:cNvPr id="202" name="CustomShape 22"/>
            <p:cNvSpPr/>
            <p:nvPr/>
          </p:nvSpPr>
          <p:spPr>
            <a:xfrm>
              <a:off x="604440" y="4835160"/>
              <a:ext cx="14040" cy="59040"/>
            </a:xfrm>
            <a:prstGeom prst="rect">
              <a:avLst/>
            </a:pr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CustomShape 23"/>
            <p:cNvSpPr/>
            <p:nvPr/>
          </p:nvSpPr>
          <p:spPr>
            <a:xfrm>
              <a:off x="694440" y="4834440"/>
              <a:ext cx="4392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CustomShape 24"/>
            <p:cNvSpPr/>
            <p:nvPr/>
          </p:nvSpPr>
          <p:spPr>
            <a:xfrm>
              <a:off x="538560" y="4834440"/>
              <a:ext cx="4464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CustomShape 25"/>
            <p:cNvSpPr/>
            <p:nvPr/>
          </p:nvSpPr>
          <p:spPr>
            <a:xfrm>
              <a:off x="755280" y="4834440"/>
              <a:ext cx="60840" cy="608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CustomShape 26"/>
            <p:cNvSpPr/>
            <p:nvPr/>
          </p:nvSpPr>
          <p:spPr>
            <a:xfrm>
              <a:off x="639000" y="4834440"/>
              <a:ext cx="39960" cy="608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CustomShape 27"/>
            <p:cNvSpPr/>
            <p:nvPr/>
          </p:nvSpPr>
          <p:spPr>
            <a:xfrm>
              <a:off x="50796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CustomShape 28"/>
            <p:cNvSpPr/>
            <p:nvPr/>
          </p:nvSpPr>
          <p:spPr>
            <a:xfrm>
              <a:off x="54864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CustomShape 29"/>
            <p:cNvSpPr/>
            <p:nvPr/>
          </p:nvSpPr>
          <p:spPr>
            <a:xfrm>
              <a:off x="58932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CustomShape 30"/>
            <p:cNvSpPr/>
            <p:nvPr/>
          </p:nvSpPr>
          <p:spPr>
            <a:xfrm>
              <a:off x="63000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CustomShape 31"/>
            <p:cNvSpPr/>
            <p:nvPr/>
          </p:nvSpPr>
          <p:spPr>
            <a:xfrm>
              <a:off x="67068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CustomShape 32"/>
            <p:cNvSpPr/>
            <p:nvPr/>
          </p:nvSpPr>
          <p:spPr>
            <a:xfrm>
              <a:off x="71136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CustomShape 33"/>
            <p:cNvSpPr/>
            <p:nvPr/>
          </p:nvSpPr>
          <p:spPr>
            <a:xfrm>
              <a:off x="75204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CustomShape 34"/>
            <p:cNvSpPr/>
            <p:nvPr/>
          </p:nvSpPr>
          <p:spPr>
            <a:xfrm>
              <a:off x="79272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CustomShape 35"/>
            <p:cNvSpPr/>
            <p:nvPr/>
          </p:nvSpPr>
          <p:spPr>
            <a:xfrm>
              <a:off x="83340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16" name="PlaceHolder 36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217" name="PlaceHolder 37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8389080" y="4743360"/>
            <a:ext cx="471600" cy="15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</a:pPr>
            <a:fld id="{E1288D12-A1B8-4AEA-9587-63CF10125A12}" type="slidenum">
              <a:rPr b="0" lang="en-US" sz="600" spc="-1" strike="noStrike">
                <a:solidFill>
                  <a:srgbClr val="d9d9d9"/>
                </a:solidFill>
                <a:latin typeface="Arial"/>
                <a:ea typeface="DejaVu Sans"/>
              </a:rPr>
              <a:t>&lt;número&gt;</a:t>
            </a:fld>
            <a:endParaRPr b="0" lang="es-ES" sz="600" spc="-1" strike="noStrike"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5493600" y="4650840"/>
            <a:ext cx="3031200" cy="244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</a:pPr>
            <a:r>
              <a:rPr b="0" lang="es-419" sz="600" spc="-1" strike="noStrike">
                <a:solidFill>
                  <a:srgbClr val="d9d9d9"/>
                </a:solidFill>
                <a:latin typeface="Arial"/>
                <a:ea typeface="DejaVu Sans"/>
              </a:rPr>
              <a:t>© 2021 Cisco y/o sus filiales. Todos los derechos reservados.   Información confidencial de Cisco</a:t>
            </a:r>
            <a:endParaRPr b="0" lang="es-ES" sz="600" spc="-1" strike="noStrike">
              <a:latin typeface="Arial"/>
            </a:endParaRPr>
          </a:p>
        </p:txBody>
      </p:sp>
      <p:grpSp>
        <p:nvGrpSpPr>
          <p:cNvPr id="256" name="Group 3"/>
          <p:cNvGrpSpPr/>
          <p:nvPr/>
        </p:nvGrpSpPr>
        <p:grpSpPr>
          <a:xfrm>
            <a:off x="507960" y="4715280"/>
            <a:ext cx="339480" cy="180000"/>
            <a:chOff x="507960" y="4715280"/>
            <a:chExt cx="339480" cy="180000"/>
          </a:xfrm>
        </p:grpSpPr>
        <p:sp>
          <p:nvSpPr>
            <p:cNvPr id="257" name="CustomShape 4"/>
            <p:cNvSpPr/>
            <p:nvPr/>
          </p:nvSpPr>
          <p:spPr>
            <a:xfrm>
              <a:off x="604440" y="4835160"/>
              <a:ext cx="14040" cy="5904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" name="CustomShape 5"/>
            <p:cNvSpPr/>
            <p:nvPr/>
          </p:nvSpPr>
          <p:spPr>
            <a:xfrm>
              <a:off x="694440" y="4834440"/>
              <a:ext cx="4392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CustomShape 6"/>
            <p:cNvSpPr/>
            <p:nvPr/>
          </p:nvSpPr>
          <p:spPr>
            <a:xfrm>
              <a:off x="538560" y="4834440"/>
              <a:ext cx="4464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CustomShape 7"/>
            <p:cNvSpPr/>
            <p:nvPr/>
          </p:nvSpPr>
          <p:spPr>
            <a:xfrm>
              <a:off x="755280" y="4834440"/>
              <a:ext cx="60840" cy="608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CustomShape 8"/>
            <p:cNvSpPr/>
            <p:nvPr/>
          </p:nvSpPr>
          <p:spPr>
            <a:xfrm>
              <a:off x="639000" y="4834440"/>
              <a:ext cx="39960" cy="608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CustomShape 9"/>
            <p:cNvSpPr/>
            <p:nvPr/>
          </p:nvSpPr>
          <p:spPr>
            <a:xfrm>
              <a:off x="50796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CustomShape 10"/>
            <p:cNvSpPr/>
            <p:nvPr/>
          </p:nvSpPr>
          <p:spPr>
            <a:xfrm>
              <a:off x="54864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CustomShape 11"/>
            <p:cNvSpPr/>
            <p:nvPr/>
          </p:nvSpPr>
          <p:spPr>
            <a:xfrm>
              <a:off x="58932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5" name="CustomShape 12"/>
            <p:cNvSpPr/>
            <p:nvPr/>
          </p:nvSpPr>
          <p:spPr>
            <a:xfrm>
              <a:off x="63000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CustomShape 13"/>
            <p:cNvSpPr/>
            <p:nvPr/>
          </p:nvSpPr>
          <p:spPr>
            <a:xfrm>
              <a:off x="67068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" name="CustomShape 14"/>
            <p:cNvSpPr/>
            <p:nvPr/>
          </p:nvSpPr>
          <p:spPr>
            <a:xfrm>
              <a:off x="71136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CustomShape 15"/>
            <p:cNvSpPr/>
            <p:nvPr/>
          </p:nvSpPr>
          <p:spPr>
            <a:xfrm>
              <a:off x="75204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9" name="CustomShape 16"/>
            <p:cNvSpPr/>
            <p:nvPr/>
          </p:nvSpPr>
          <p:spPr>
            <a:xfrm>
              <a:off x="79272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0" name="CustomShape 17"/>
            <p:cNvSpPr/>
            <p:nvPr/>
          </p:nvSpPr>
          <p:spPr>
            <a:xfrm>
              <a:off x="83340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1" name="PlaceHolder 18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272" name="PlaceHolder 19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 hidden="1"/>
          <p:cNvSpPr/>
          <p:nvPr/>
        </p:nvSpPr>
        <p:spPr>
          <a:xfrm>
            <a:off x="8389080" y="4743360"/>
            <a:ext cx="471600" cy="15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</a:pPr>
            <a:fld id="{40866374-3F38-46C3-BD1F-F763DCE1DAB9}" type="slidenum">
              <a:rPr b="0" lang="en-US" sz="600" spc="-1" strike="noStrike">
                <a:solidFill>
                  <a:srgbClr val="d9d9d9"/>
                </a:solidFill>
                <a:latin typeface="Arial"/>
                <a:ea typeface="DejaVu Sans"/>
              </a:rPr>
              <a:t>&lt;número&gt;</a:t>
            </a:fld>
            <a:endParaRPr b="0" lang="es-ES" sz="600" spc="-1" strike="noStrike">
              <a:latin typeface="Arial"/>
            </a:endParaRPr>
          </a:p>
        </p:txBody>
      </p:sp>
      <p:sp>
        <p:nvSpPr>
          <p:cNvPr id="310" name="CustomShape 2" hidden="1"/>
          <p:cNvSpPr/>
          <p:nvPr/>
        </p:nvSpPr>
        <p:spPr>
          <a:xfrm>
            <a:off x="5493600" y="4650840"/>
            <a:ext cx="3031200" cy="244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</a:pPr>
            <a:r>
              <a:rPr b="0" lang="es-419" sz="600" spc="-1" strike="noStrike">
                <a:solidFill>
                  <a:srgbClr val="d9d9d9"/>
                </a:solidFill>
                <a:latin typeface="Arial"/>
                <a:ea typeface="DejaVu Sans"/>
              </a:rPr>
              <a:t>© 2021 Cisco y/o sus filiales. Todos los derechos reservados.   Información confidencial de Cisco</a:t>
            </a:r>
            <a:endParaRPr b="0" lang="es-ES" sz="600" spc="-1" strike="noStrike">
              <a:latin typeface="Arial"/>
            </a:endParaRPr>
          </a:p>
        </p:txBody>
      </p:sp>
      <p:grpSp>
        <p:nvGrpSpPr>
          <p:cNvPr id="311" name="Group 3"/>
          <p:cNvGrpSpPr/>
          <p:nvPr/>
        </p:nvGrpSpPr>
        <p:grpSpPr>
          <a:xfrm>
            <a:off x="507960" y="4715280"/>
            <a:ext cx="339480" cy="180000"/>
            <a:chOff x="507960" y="4715280"/>
            <a:chExt cx="339480" cy="180000"/>
          </a:xfrm>
        </p:grpSpPr>
        <p:sp>
          <p:nvSpPr>
            <p:cNvPr id="312" name="CustomShape 4"/>
            <p:cNvSpPr/>
            <p:nvPr/>
          </p:nvSpPr>
          <p:spPr>
            <a:xfrm>
              <a:off x="604440" y="4835160"/>
              <a:ext cx="14040" cy="5904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CustomShape 5"/>
            <p:cNvSpPr/>
            <p:nvPr/>
          </p:nvSpPr>
          <p:spPr>
            <a:xfrm>
              <a:off x="694440" y="4834440"/>
              <a:ext cx="4392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CustomShape 6"/>
            <p:cNvSpPr/>
            <p:nvPr/>
          </p:nvSpPr>
          <p:spPr>
            <a:xfrm>
              <a:off x="538560" y="4834440"/>
              <a:ext cx="44640" cy="608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CustomShape 7"/>
            <p:cNvSpPr/>
            <p:nvPr/>
          </p:nvSpPr>
          <p:spPr>
            <a:xfrm>
              <a:off x="755280" y="4834440"/>
              <a:ext cx="60840" cy="608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CustomShape 8"/>
            <p:cNvSpPr/>
            <p:nvPr/>
          </p:nvSpPr>
          <p:spPr>
            <a:xfrm>
              <a:off x="639000" y="4834440"/>
              <a:ext cx="39960" cy="608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CustomShape 9"/>
            <p:cNvSpPr/>
            <p:nvPr/>
          </p:nvSpPr>
          <p:spPr>
            <a:xfrm>
              <a:off x="50796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CustomShape 10"/>
            <p:cNvSpPr/>
            <p:nvPr/>
          </p:nvSpPr>
          <p:spPr>
            <a:xfrm>
              <a:off x="54864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CustomShape 11"/>
            <p:cNvSpPr/>
            <p:nvPr/>
          </p:nvSpPr>
          <p:spPr>
            <a:xfrm>
              <a:off x="58932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CustomShape 12"/>
            <p:cNvSpPr/>
            <p:nvPr/>
          </p:nvSpPr>
          <p:spPr>
            <a:xfrm>
              <a:off x="63000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CustomShape 13"/>
            <p:cNvSpPr/>
            <p:nvPr/>
          </p:nvSpPr>
          <p:spPr>
            <a:xfrm>
              <a:off x="67068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CustomShape 14"/>
            <p:cNvSpPr/>
            <p:nvPr/>
          </p:nvSpPr>
          <p:spPr>
            <a:xfrm>
              <a:off x="71136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CustomShape 15"/>
            <p:cNvSpPr/>
            <p:nvPr/>
          </p:nvSpPr>
          <p:spPr>
            <a:xfrm>
              <a:off x="752040" y="4715280"/>
              <a:ext cx="14040" cy="9360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CustomShape 16"/>
            <p:cNvSpPr/>
            <p:nvPr/>
          </p:nvSpPr>
          <p:spPr>
            <a:xfrm>
              <a:off x="792720" y="4743720"/>
              <a:ext cx="14040" cy="500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" name="CustomShape 17"/>
            <p:cNvSpPr/>
            <p:nvPr/>
          </p:nvSpPr>
          <p:spPr>
            <a:xfrm>
              <a:off x="833400" y="4763880"/>
              <a:ext cx="14040" cy="2988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326" name="Picture 1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65280"/>
          </a:xfrm>
          <a:prstGeom prst="rect">
            <a:avLst/>
          </a:prstGeom>
          <a:ln w="0">
            <a:noFill/>
          </a:ln>
        </p:spPr>
      </p:pic>
      <p:grpSp>
        <p:nvGrpSpPr>
          <p:cNvPr id="327" name="Group 18"/>
          <p:cNvGrpSpPr/>
          <p:nvPr/>
        </p:nvGrpSpPr>
        <p:grpSpPr>
          <a:xfrm>
            <a:off x="3746160" y="2129760"/>
            <a:ext cx="1617480" cy="860040"/>
            <a:chOff x="3746160" y="2129760"/>
            <a:chExt cx="1617480" cy="860040"/>
          </a:xfrm>
        </p:grpSpPr>
        <p:sp>
          <p:nvSpPr>
            <p:cNvPr id="328" name="CustomShape 19"/>
            <p:cNvSpPr/>
            <p:nvPr/>
          </p:nvSpPr>
          <p:spPr>
            <a:xfrm>
              <a:off x="4204080" y="2700360"/>
              <a:ext cx="70200" cy="28296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" name="CustomShape 20"/>
            <p:cNvSpPr/>
            <p:nvPr/>
          </p:nvSpPr>
          <p:spPr>
            <a:xfrm>
              <a:off x="4632480" y="2697120"/>
              <a:ext cx="212040" cy="29268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CustomShape 21"/>
            <p:cNvSpPr/>
            <p:nvPr/>
          </p:nvSpPr>
          <p:spPr>
            <a:xfrm>
              <a:off x="3891240" y="2697120"/>
              <a:ext cx="215280" cy="29268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CustomShape 22"/>
            <p:cNvSpPr/>
            <p:nvPr/>
          </p:nvSpPr>
          <p:spPr>
            <a:xfrm>
              <a:off x="4922640" y="2697120"/>
              <a:ext cx="292680" cy="29268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CustomShape 23"/>
            <p:cNvSpPr/>
            <p:nvPr/>
          </p:nvSpPr>
          <p:spPr>
            <a:xfrm>
              <a:off x="4368240" y="2697120"/>
              <a:ext cx="192600" cy="29268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CustomShape 24"/>
            <p:cNvSpPr/>
            <p:nvPr/>
          </p:nvSpPr>
          <p:spPr>
            <a:xfrm>
              <a:off x="3746160" y="2361960"/>
              <a:ext cx="70200" cy="14436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" name="CustomShape 25"/>
            <p:cNvSpPr/>
            <p:nvPr/>
          </p:nvSpPr>
          <p:spPr>
            <a:xfrm>
              <a:off x="3939840" y="2265120"/>
              <a:ext cx="70200" cy="2408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CustomShape 26"/>
            <p:cNvSpPr/>
            <p:nvPr/>
          </p:nvSpPr>
          <p:spPr>
            <a:xfrm>
              <a:off x="4133160" y="2129760"/>
              <a:ext cx="70200" cy="4471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CustomShape 27"/>
            <p:cNvSpPr/>
            <p:nvPr/>
          </p:nvSpPr>
          <p:spPr>
            <a:xfrm>
              <a:off x="4326480" y="2265120"/>
              <a:ext cx="70200" cy="2408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CustomShape 28"/>
            <p:cNvSpPr/>
            <p:nvPr/>
          </p:nvSpPr>
          <p:spPr>
            <a:xfrm>
              <a:off x="4519800" y="2361960"/>
              <a:ext cx="70200" cy="14436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CustomShape 29"/>
            <p:cNvSpPr/>
            <p:nvPr/>
          </p:nvSpPr>
          <p:spPr>
            <a:xfrm>
              <a:off x="4713120" y="2265120"/>
              <a:ext cx="70200" cy="2408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CustomShape 30"/>
            <p:cNvSpPr/>
            <p:nvPr/>
          </p:nvSpPr>
          <p:spPr>
            <a:xfrm>
              <a:off x="4906440" y="2129760"/>
              <a:ext cx="70200" cy="4471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CustomShape 31"/>
            <p:cNvSpPr/>
            <p:nvPr/>
          </p:nvSpPr>
          <p:spPr>
            <a:xfrm>
              <a:off x="5100120" y="2265120"/>
              <a:ext cx="70200" cy="24084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CustomShape 32"/>
            <p:cNvSpPr/>
            <p:nvPr/>
          </p:nvSpPr>
          <p:spPr>
            <a:xfrm>
              <a:off x="5293440" y="2361960"/>
              <a:ext cx="70200" cy="14436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42" name="PlaceHolder 3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343" name="PlaceHolder 3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 fontScale="8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hyperlink" Target="http://www.netacad.com/" TargetMode="External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"/>
          <p:cNvSpPr/>
          <p:nvPr/>
        </p:nvSpPr>
        <p:spPr>
          <a:xfrm>
            <a:off x="469440" y="2751840"/>
            <a:ext cx="66718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3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Módulo 1: Redes hoy</a:t>
            </a:r>
            <a:endParaRPr b="0" lang="es-ES" sz="3600" spc="-1" strike="noStrike">
              <a:latin typeface="Arial"/>
            </a:endParaRPr>
          </a:p>
        </p:txBody>
      </p:sp>
      <p:sp>
        <p:nvSpPr>
          <p:cNvPr id="387" name="CustomShape 2"/>
          <p:cNvSpPr/>
          <p:nvPr/>
        </p:nvSpPr>
        <p:spPr>
          <a:xfrm>
            <a:off x="469440" y="3809520"/>
            <a:ext cx="2368080" cy="9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419" sz="1200" spc="-1" strike="noStrike">
                <a:solidFill>
                  <a:srgbClr val="afe8fb"/>
                </a:solidFill>
                <a:latin typeface="Arial"/>
              </a:rPr>
              <a:t>Introducción a Redes v7.0 (ITN)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0" y="41400"/>
            <a:ext cx="914328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Objetivos del módulo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89" name="CustomShape 2"/>
          <p:cNvSpPr/>
          <p:nvPr/>
        </p:nvSpPr>
        <p:spPr>
          <a:xfrm>
            <a:off x="99360" y="654120"/>
            <a:ext cx="873072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58585b"/>
                </a:solidFill>
                <a:latin typeface="Arial"/>
                <a:ea typeface="Calibri"/>
              </a:rPr>
              <a:t>Título del módulo: </a:t>
            </a:r>
            <a:r>
              <a:rPr b="0" lang="es-419" sz="1400" spc="-1" strike="noStrike">
                <a:solidFill>
                  <a:srgbClr val="58585b"/>
                </a:solidFill>
                <a:latin typeface="Arial"/>
                <a:ea typeface="Calibri"/>
              </a:rPr>
              <a:t>Redes hoy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58585b"/>
                </a:solidFill>
                <a:latin typeface="Arial"/>
                <a:ea typeface="Calibri"/>
              </a:rPr>
              <a:t>Objetivo del Módulo</a:t>
            </a:r>
            <a:r>
              <a:rPr b="0" lang="es-419" sz="1400" spc="-1" strike="noStrike">
                <a:solidFill>
                  <a:srgbClr val="58585b"/>
                </a:solidFill>
                <a:latin typeface="Arial"/>
                <a:ea typeface="Calibri"/>
              </a:rPr>
              <a:t>: Explicar los avances en las tecnologías modernas.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89280"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89280"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</p:txBody>
      </p:sp>
      <p:graphicFrame>
        <p:nvGraphicFramePr>
          <p:cNvPr id="390" name="Table 3"/>
          <p:cNvGraphicFramePr/>
          <p:nvPr/>
        </p:nvGraphicFramePr>
        <p:xfrm>
          <a:off x="423360" y="1625760"/>
          <a:ext cx="8262720" cy="2901960"/>
        </p:xfrm>
        <a:graphic>
          <a:graphicData uri="http://schemas.openxmlformats.org/drawingml/2006/table">
            <a:tbl>
              <a:tblPr/>
              <a:tblGrid>
                <a:gridCol w="2917440"/>
                <a:gridCol w="5345640"/>
              </a:tblGrid>
              <a:tr h="22392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Título del tema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Objetivo del tema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26352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Las redes afectan nuestras vidas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Explique la forma en que las redes afectan nuestra vida diaria.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26352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Componentes de la red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Explique la forma en que se utilizan los dispositivos host y de red.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25452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Topologías y representaciones de red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Explique las representaciones de red y cómo se utilizan en las topologías de red.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24984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Tipos comunes de redes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Compare las características de los tipos comunes de redes.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26352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Conexiones a Internet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Explique la forma en que las LAN y las WAN se interconectan a Internet.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28764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Redes confiables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Describa los cuatro requisitos básicos de una red confiable.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49932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Tendencias de red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Explique la forma en que las tendencias, como BYOD, la colaboración en línea, la comunicación de video y la computación en la nube, están cambiando el modo en que interactuamos.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3300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Seguridad de redes: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Identificar algunas amenazas y soluciones de seguridad básicas para todas las redes.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263520"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1" lang="es-419" sz="11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El profesional de TI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lIns="60120" rIns="60120">
                      <a:noAutofit/>
                    </a:bodyPr>
                    <a:p>
                      <a:pPr>
                        <a:lnSpc>
                          <a:spcPct val="107000"/>
                        </a:lnSpc>
                      </a:pPr>
                      <a:r>
                        <a:rPr b="0" lang="es-419" sz="11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Explique las oportunidades de empleo en el campo de las redes.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marL="60120" marR="601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CustomShape 1"/>
          <p:cNvSpPr/>
          <p:nvPr/>
        </p:nvSpPr>
        <p:spPr>
          <a:xfrm>
            <a:off x="416520" y="915480"/>
            <a:ext cx="75974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1.1 Las redes afectan nuestras vidas</a:t>
            </a:r>
            <a:endParaRPr b="0" lang="es-ES" sz="46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144000" y="798840"/>
            <a:ext cx="8852400" cy="14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comunicación es casi tan importante para nosotros como el aire, el agua, los alimentos y un lugar para vivir. En el mundo actual, estamos conectados como nunca antes gracias al uso de redes.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393" name="CustomShape 2"/>
          <p:cNvSpPr/>
          <p:nvPr/>
        </p:nvSpPr>
        <p:spPr>
          <a:xfrm>
            <a:off x="144000" y="63360"/>
            <a:ext cx="8999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Redes Hoy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Redes Conéctenos</a:t>
            </a:r>
            <a:endParaRPr b="0" lang="es-ES" sz="24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CustomShape 1"/>
          <p:cNvSpPr/>
          <p:nvPr/>
        </p:nvSpPr>
        <p:spPr>
          <a:xfrm>
            <a:off x="0" y="-12312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Redes Hoy</a:t>
            </a:r>
            <a:br/>
            <a:endParaRPr b="0" lang="es-ES" sz="1600" spc="-1" strike="noStrike">
              <a:latin typeface="Arial"/>
            </a:endParaRPr>
          </a:p>
        </p:txBody>
      </p:sp>
      <p:sp>
        <p:nvSpPr>
          <p:cNvPr id="395" name="CustomShape 2"/>
          <p:cNvSpPr/>
          <p:nvPr/>
        </p:nvSpPr>
        <p:spPr>
          <a:xfrm>
            <a:off x="0" y="41400"/>
            <a:ext cx="914328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Video: la experiencia de aprendizaje de Cisco Networking Academy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96" name="CustomShape 3"/>
          <p:cNvSpPr/>
          <p:nvPr/>
        </p:nvSpPr>
        <p:spPr>
          <a:xfrm>
            <a:off x="144000" y="798840"/>
            <a:ext cx="885240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Networking Academy: aprenda cómo usamos la tecnología para hacer del mundo un lugar mejor.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397" name="Picture 2" descr=""/>
          <p:cNvPicPr/>
          <p:nvPr/>
        </p:nvPicPr>
        <p:blipFill>
          <a:blip r:embed="rId1"/>
          <a:stretch/>
        </p:blipFill>
        <p:spPr>
          <a:xfrm>
            <a:off x="1566360" y="1510560"/>
            <a:ext cx="5262480" cy="30031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Redes hoy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Sin límites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99" name="CustomShape 2"/>
          <p:cNvSpPr/>
          <p:nvPr/>
        </p:nvSpPr>
        <p:spPr>
          <a:xfrm>
            <a:off x="124560" y="906120"/>
            <a:ext cx="8852400" cy="11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Mundo sin fronteras</a:t>
            </a:r>
            <a:endParaRPr b="0" lang="es-ES" sz="15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Comunidades globales</a:t>
            </a:r>
            <a:endParaRPr b="0" lang="es-ES" sz="15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Red humana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400" name="Picture 2" descr=""/>
          <p:cNvPicPr/>
          <p:nvPr/>
        </p:nvPicPr>
        <p:blipFill>
          <a:blip r:embed="rId1"/>
          <a:stretch/>
        </p:blipFill>
        <p:spPr>
          <a:xfrm>
            <a:off x="1456200" y="2167200"/>
            <a:ext cx="6228720" cy="26568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416520" y="915480"/>
            <a:ext cx="75974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1.2 Componentes de red</a:t>
            </a:r>
            <a:endParaRPr b="0" lang="es-ES" sz="46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Componentes de Red</a:t>
            </a:r>
            <a:br/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 </a:t>
            </a:r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Roles de Host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03" name="CustomShape 2"/>
          <p:cNvSpPr/>
          <p:nvPr/>
        </p:nvSpPr>
        <p:spPr>
          <a:xfrm>
            <a:off x="144000" y="798840"/>
            <a:ext cx="3487320" cy="41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Cada computadora en una red se llama host o dispositivo final.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servidores son computadoras que proporcionan información a dispositivos finales: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Servidores de correo electrónico.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Servidores web.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Servidores de archivos.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clientes son equipos que envían solicitudes a los servidores para recuperar información: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Página web desde un servidor web.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correo electrónico desde un servidor de correo electrónico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s-ES" sz="1500" spc="-1" strike="noStrike">
              <a:latin typeface="Arial"/>
            </a:endParaRPr>
          </a:p>
        </p:txBody>
      </p:sp>
      <p:graphicFrame>
        <p:nvGraphicFramePr>
          <p:cNvPr id="404" name="Table 3"/>
          <p:cNvGraphicFramePr/>
          <p:nvPr/>
        </p:nvGraphicFramePr>
        <p:xfrm>
          <a:off x="3700080" y="2370600"/>
          <a:ext cx="5299200" cy="2852280"/>
        </p:xfrm>
        <a:graphic>
          <a:graphicData uri="http://schemas.openxmlformats.org/drawingml/2006/table">
            <a:tbl>
              <a:tblPr/>
              <a:tblGrid>
                <a:gridCol w="896400"/>
                <a:gridCol w="4403160"/>
              </a:tblGrid>
              <a:tr h="5266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Tipo de servidor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8910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Correo electrónico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El servidor de correo electrónico ejecuta un software de servidor de correo electrónico. 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Los clientes utilizan software cliente para acceder al correo electrónico.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743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Web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El servidor web ejecuta software de servidor web. 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Los clientes utilizan el software del navegador para acceder a las páginas web.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691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Archivo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El servidor de archivos almacena archivos corporativos y de usuario.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Los dispositivos cliente acceden a estos archivos.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  <p:pic>
        <p:nvPicPr>
          <p:cNvPr id="405" name="Picture 3" descr=""/>
          <p:cNvPicPr/>
          <p:nvPr/>
        </p:nvPicPr>
        <p:blipFill>
          <a:blip r:embed="rId1"/>
          <a:stretch/>
        </p:blipFill>
        <p:spPr>
          <a:xfrm>
            <a:off x="3974760" y="1007640"/>
            <a:ext cx="4679280" cy="10620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0" y="41400"/>
            <a:ext cx="914328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Componentes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Punto a Punto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07" name="CustomShape 2"/>
          <p:cNvSpPr/>
          <p:nvPr/>
        </p:nvSpPr>
        <p:spPr>
          <a:xfrm>
            <a:off x="129960" y="727920"/>
            <a:ext cx="885240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Es posible que un dispositivo sea un cliente y un servidor en una red Punto a Punto. </a:t>
            </a: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Este tipo de diseño de red solo se recomienda para redes muy pequeñas. 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408" name="Picture 2" descr=""/>
          <p:cNvPicPr/>
          <p:nvPr/>
        </p:nvPicPr>
        <p:blipFill>
          <a:blip r:embed="rId1"/>
          <a:stretch/>
        </p:blipFill>
        <p:spPr>
          <a:xfrm>
            <a:off x="2095920" y="1643760"/>
            <a:ext cx="4222080" cy="10987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09" name="Table 3"/>
          <p:cNvGraphicFramePr/>
          <p:nvPr/>
        </p:nvGraphicFramePr>
        <p:xfrm>
          <a:off x="129960" y="2743200"/>
          <a:ext cx="8852400" cy="1872000"/>
        </p:xfrm>
        <a:graphic>
          <a:graphicData uri="http://schemas.openxmlformats.org/drawingml/2006/table">
            <a:tbl>
              <a:tblPr/>
              <a:tblGrid>
                <a:gridCol w="4371480"/>
                <a:gridCol w="4481280"/>
              </a:tblGrid>
              <a:tr h="2916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Ventajas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Desventajas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3006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CiscoSans"/>
                        </a:rPr>
                        <a:t>Fácil de configurar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La administración no está centralizada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006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CiscoSans"/>
                        </a:rPr>
                        <a:t>Menos complejo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No son tan seguras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4701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CiscoSans"/>
                        </a:rPr>
                        <a:t>Reduce los costos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No son escalables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5094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CiscoSans"/>
                        </a:rPr>
                        <a:t>Se utiliza para tareas simples: transferir archivos y compartir impresoras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Rendimiento más lento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Componentes de red</a:t>
            </a:r>
            <a:br/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 </a:t>
            </a:r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Dispositivos finales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11" name="CustomShape 2"/>
          <p:cNvSpPr/>
          <p:nvPr/>
        </p:nvSpPr>
        <p:spPr>
          <a:xfrm>
            <a:off x="144000" y="798840"/>
            <a:ext cx="8852400" cy="8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 dispositivo final es el punto donde un mensaje se origina o se recibe. Los datos se originan con un dispositivo final, fluyen por la red y llegan a un dispositivo final.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412" name="Picture 2" descr=""/>
          <p:cNvPicPr/>
          <p:nvPr/>
        </p:nvPicPr>
        <p:blipFill>
          <a:blip r:embed="rId1"/>
          <a:stretch/>
        </p:blipFill>
        <p:spPr>
          <a:xfrm>
            <a:off x="1392840" y="1644480"/>
            <a:ext cx="5437080" cy="29253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Componentes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Dispositivos de red intermedios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14" name="CustomShape 2"/>
          <p:cNvSpPr/>
          <p:nvPr/>
        </p:nvSpPr>
        <p:spPr>
          <a:xfrm>
            <a:off x="366840" y="798840"/>
            <a:ext cx="7892640" cy="24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 dispositivo intermediario interconecta dispositivos finales. Los ejemplos incluyen switches, puntos de acceso inalámbrico, routers y firewalls.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gestión de los datos a medida que fluyen a través de una red también es la función de un dispositivo intermediario, que incluye: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Volver a generar y transmitir las señales de datos.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Mantener información sobre qué vías existen en la red.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Notificar a otros dispositivos los errores y las fallas de comunicación.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</p:txBody>
      </p:sp>
      <p:pic>
        <p:nvPicPr>
          <p:cNvPr id="415" name="Picture 1" descr=""/>
          <p:cNvPicPr/>
          <p:nvPr/>
        </p:nvPicPr>
        <p:blipFill>
          <a:blip r:embed="rId1"/>
          <a:stretch/>
        </p:blipFill>
        <p:spPr>
          <a:xfrm>
            <a:off x="1596600" y="3354120"/>
            <a:ext cx="4987800" cy="13964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Componentes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Medios de red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17" name="CustomShape 2"/>
          <p:cNvSpPr/>
          <p:nvPr/>
        </p:nvSpPr>
        <p:spPr>
          <a:xfrm>
            <a:off x="144000" y="798840"/>
            <a:ext cx="87426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comunicación a través de una red se efectúa a través de un medio que permite que un mensaje viaje desde el origen hacia el destino.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s-ES" sz="1500" spc="-1" strike="noStrike">
              <a:latin typeface="Arial"/>
            </a:endParaRPr>
          </a:p>
        </p:txBody>
      </p:sp>
      <p:graphicFrame>
        <p:nvGraphicFramePr>
          <p:cNvPr id="418" name="Table 3"/>
          <p:cNvGraphicFramePr/>
          <p:nvPr/>
        </p:nvGraphicFramePr>
        <p:xfrm>
          <a:off x="361440" y="1496520"/>
          <a:ext cx="4557240" cy="2831400"/>
        </p:xfrm>
        <a:graphic>
          <a:graphicData uri="http://schemas.openxmlformats.org/drawingml/2006/table">
            <a:tbl>
              <a:tblPr/>
              <a:tblGrid>
                <a:gridCol w="2324880"/>
                <a:gridCol w="2232720"/>
              </a:tblGrid>
              <a:tr h="4309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Tipos de medios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599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Alambres de metal dentro de cables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Utiliza impulsos eléctricos.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8910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Fibras de vidrio o plástico dentro de los cables (cable de fibra óptica)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Utiliza pulsos de luz.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91008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Transmisión inalámbrica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Utiliza modulación de frecuencias específicas de ondas electromagnéticas.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  <p:pic>
        <p:nvPicPr>
          <p:cNvPr id="419" name="Picture 3" descr=""/>
          <p:cNvPicPr/>
          <p:nvPr/>
        </p:nvPicPr>
        <p:blipFill>
          <a:blip r:embed="rId1"/>
          <a:stretch/>
        </p:blipFill>
        <p:spPr>
          <a:xfrm>
            <a:off x="4919400" y="1407600"/>
            <a:ext cx="3967200" cy="29991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CustomShape 1"/>
          <p:cNvSpPr/>
          <p:nvPr/>
        </p:nvSpPr>
        <p:spPr>
          <a:xfrm>
            <a:off x="416520" y="915480"/>
            <a:ext cx="8230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0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1.3 Representaciones de red y topologías</a:t>
            </a:r>
            <a:endParaRPr b="0" lang="es-E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Representaciones de red y topologías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Representaciones de red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22" name="CustomShape 2"/>
          <p:cNvSpPr/>
          <p:nvPr/>
        </p:nvSpPr>
        <p:spPr>
          <a:xfrm>
            <a:off x="167040" y="1152360"/>
            <a:ext cx="3997080" cy="32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diagramas de red, con frecuencia, denominados diagramas de topología, utilizan símbolos para representar los dispositivos dentro de la red.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términos importantes a conocer incluyen: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Tarjeta de interfaz de red (NIC)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Puerto físico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Interfaz</a:t>
            </a: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1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Nota</a:t>
            </a: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: A menudo, los términos puerto e interfaz se usan indistintamente</a:t>
            </a: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423" name="Picture 1" descr=""/>
          <p:cNvPicPr/>
          <p:nvPr/>
        </p:nvPicPr>
        <p:blipFill>
          <a:blip r:embed="rId1"/>
          <a:stretch/>
        </p:blipFill>
        <p:spPr>
          <a:xfrm>
            <a:off x="4164840" y="983520"/>
            <a:ext cx="4879440" cy="34502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Representaciones de red y topologías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Diagramas de topología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25" name="CustomShape 2"/>
          <p:cNvSpPr/>
          <p:nvPr/>
        </p:nvSpPr>
        <p:spPr>
          <a:xfrm>
            <a:off x="284040" y="797760"/>
            <a:ext cx="406116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diagramas de topología física ilustran la ubicación física de los dispositivos intermedios y la instalación de cables.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</p:txBody>
      </p:sp>
      <p:pic>
        <p:nvPicPr>
          <p:cNvPr id="426" name="Picture 2" descr=""/>
          <p:cNvPicPr/>
          <p:nvPr/>
        </p:nvPicPr>
        <p:blipFill>
          <a:blip r:embed="rId1"/>
          <a:stretch/>
        </p:blipFill>
        <p:spPr>
          <a:xfrm>
            <a:off x="284040" y="1712160"/>
            <a:ext cx="4167720" cy="2680920"/>
          </a:xfrm>
          <a:prstGeom prst="rect">
            <a:avLst/>
          </a:prstGeom>
          <a:ln w="0">
            <a:noFill/>
          </a:ln>
        </p:spPr>
      </p:pic>
      <p:sp>
        <p:nvSpPr>
          <p:cNvPr id="427" name="CustomShape 3"/>
          <p:cNvSpPr/>
          <p:nvPr/>
        </p:nvSpPr>
        <p:spPr>
          <a:xfrm>
            <a:off x="4911840" y="756360"/>
            <a:ext cx="423144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diagramas de topología lógica ilustran dispositivos, puertos y el esquema de direccionamiento de la red.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428" name="Picture 2" descr=""/>
          <p:cNvPicPr/>
          <p:nvPr/>
        </p:nvPicPr>
        <p:blipFill>
          <a:blip r:embed="rId2"/>
          <a:stretch/>
        </p:blipFill>
        <p:spPr>
          <a:xfrm>
            <a:off x="4582440" y="1712160"/>
            <a:ext cx="3971160" cy="26762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CustomShape 1"/>
          <p:cNvSpPr/>
          <p:nvPr/>
        </p:nvSpPr>
        <p:spPr>
          <a:xfrm>
            <a:off x="416520" y="915480"/>
            <a:ext cx="8230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0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1.4 Tipos comunes de redes</a:t>
            </a:r>
            <a:endParaRPr b="0" lang="es-E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CustomShape 1"/>
          <p:cNvSpPr/>
          <p:nvPr/>
        </p:nvSpPr>
        <p:spPr>
          <a:xfrm>
            <a:off x="0" y="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Tipos comunes de redes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Redes de muchos tamaños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31" name="CustomShape 2"/>
          <p:cNvSpPr/>
          <p:nvPr/>
        </p:nvSpPr>
        <p:spPr>
          <a:xfrm>
            <a:off x="4572000" y="757440"/>
            <a:ext cx="4401000" cy="39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domésticas pequeñas conectan algunas computadoras entre sí y con Internet.</a:t>
            </a:r>
            <a:endParaRPr b="0" lang="es-ES" sz="17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oficinas pequeñas y las oficinas en el hogar permiten que una computadora dentro de una oficina en el hogar o una oficina remota se conecte a una red corporativa.</a:t>
            </a:r>
            <a:endParaRPr b="0" lang="es-ES" sz="17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medianas a grandes incluyen muchos lugares con cientos o miles de computadoras interconectadas.</a:t>
            </a:r>
            <a:endParaRPr b="0" lang="es-ES" sz="17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Redes mundiales: conecta cientos de millones de computadoras en todo el mundo, como Internet</a:t>
            </a: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700" spc="-1" strike="noStrike">
              <a:latin typeface="Arial"/>
            </a:endParaRPr>
          </a:p>
        </p:txBody>
      </p:sp>
      <p:sp>
        <p:nvSpPr>
          <p:cNvPr id="432" name="CustomShape 3"/>
          <p:cNvSpPr/>
          <p:nvPr/>
        </p:nvSpPr>
        <p:spPr>
          <a:xfrm>
            <a:off x="0" y="2310840"/>
            <a:ext cx="4343760" cy="36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s-419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       </a:t>
            </a:r>
            <a:r>
              <a:rPr b="0" lang="es-419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Casa pequeña SOHO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433" name="Picture 2" descr="this is the image’s alt text"/>
          <p:cNvPicPr/>
          <p:nvPr/>
        </p:nvPicPr>
        <p:blipFill>
          <a:blip r:embed="rId1"/>
          <a:stretch/>
        </p:blipFill>
        <p:spPr>
          <a:xfrm>
            <a:off x="150840" y="757440"/>
            <a:ext cx="2102400" cy="1533240"/>
          </a:xfrm>
          <a:prstGeom prst="rect">
            <a:avLst/>
          </a:prstGeom>
          <a:ln w="0">
            <a:noFill/>
          </a:ln>
        </p:spPr>
      </p:pic>
      <p:pic>
        <p:nvPicPr>
          <p:cNvPr id="434" name="Picture 4" descr="https://d1qjbjciwpxftb.cloudfront.net/courses/ccna1/networking-today/5_common-types-of-networks/assets/1_chunk/media--Small-Home-Office-Net--image.jpg"/>
          <p:cNvPicPr/>
          <p:nvPr/>
        </p:nvPicPr>
        <p:blipFill>
          <a:blip r:embed="rId2"/>
          <a:stretch/>
        </p:blipFill>
        <p:spPr>
          <a:xfrm>
            <a:off x="2253960" y="757440"/>
            <a:ext cx="2089800" cy="1533240"/>
          </a:xfrm>
          <a:prstGeom prst="rect">
            <a:avLst/>
          </a:prstGeom>
          <a:ln w="0">
            <a:noFill/>
          </a:ln>
        </p:spPr>
      </p:pic>
      <p:sp>
        <p:nvSpPr>
          <p:cNvPr id="435" name="CustomShape 4"/>
          <p:cNvSpPr/>
          <p:nvPr/>
        </p:nvSpPr>
        <p:spPr>
          <a:xfrm>
            <a:off x="176040" y="4303800"/>
            <a:ext cx="4167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s-419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   </a:t>
            </a:r>
            <a:r>
              <a:rPr b="0" lang="es-419" sz="16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Mediana/Grande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436" name="Picture 6" descr="this is the image’s alt text"/>
          <p:cNvPicPr/>
          <p:nvPr/>
        </p:nvPicPr>
        <p:blipFill>
          <a:blip r:embed="rId3"/>
          <a:stretch/>
        </p:blipFill>
        <p:spPr>
          <a:xfrm>
            <a:off x="150840" y="2699280"/>
            <a:ext cx="2102400" cy="1603800"/>
          </a:xfrm>
          <a:prstGeom prst="rect">
            <a:avLst/>
          </a:prstGeom>
          <a:ln w="0">
            <a:noFill/>
          </a:ln>
        </p:spPr>
      </p:pic>
      <p:pic>
        <p:nvPicPr>
          <p:cNvPr id="437" name="Picture 8" descr=""/>
          <p:cNvPicPr/>
          <p:nvPr/>
        </p:nvPicPr>
        <p:blipFill>
          <a:blip r:embed="rId4"/>
          <a:stretch/>
        </p:blipFill>
        <p:spPr>
          <a:xfrm>
            <a:off x="2253960" y="2680200"/>
            <a:ext cx="2089800" cy="16038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"/>
          <p:cNvSpPr/>
          <p:nvPr/>
        </p:nvSpPr>
        <p:spPr>
          <a:xfrm>
            <a:off x="0" y="41400"/>
            <a:ext cx="914328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Tipos comunes de redes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LANs y WANs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39" name="CustomShape 2"/>
          <p:cNvSpPr/>
          <p:nvPr/>
        </p:nvSpPr>
        <p:spPr>
          <a:xfrm>
            <a:off x="129960" y="727920"/>
            <a:ext cx="3994920" cy="37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infraestructuras de red pueden variar en gran medida en términos de: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tamaño del área que abarcan.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cantidad de usuarios conectados.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cantidad y los tipos de servicios disponibles.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área de responsabilidad</a:t>
            </a:r>
            <a:endParaRPr b="0" lang="es-ES" sz="16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dos tipos de redes más comunes son los siguientes: 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Red de área local (LAN) 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Red de área amplia (WAN).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440" name="Picture 1" descr=""/>
          <p:cNvPicPr/>
          <p:nvPr/>
        </p:nvPicPr>
        <p:blipFill>
          <a:blip r:embed="rId1"/>
          <a:stretch/>
        </p:blipFill>
        <p:spPr>
          <a:xfrm>
            <a:off x="4125600" y="751320"/>
            <a:ext cx="4884120" cy="36007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Tipos comunes de redes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LAN y WAN (continuación) 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42" name="CustomShape 2"/>
          <p:cNvSpPr/>
          <p:nvPr/>
        </p:nvSpPr>
        <p:spPr>
          <a:xfrm>
            <a:off x="284040" y="797760"/>
            <a:ext cx="406116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Una LAN es una infraestructura de la red que abarca un área geográfica pequeña. 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</p:txBody>
      </p:sp>
      <p:pic>
        <p:nvPicPr>
          <p:cNvPr id="443" name="Picture 4" descr=""/>
          <p:cNvPicPr/>
          <p:nvPr/>
        </p:nvPicPr>
        <p:blipFill>
          <a:blip r:embed="rId1"/>
          <a:stretch/>
        </p:blipFill>
        <p:spPr>
          <a:xfrm>
            <a:off x="396720" y="1357560"/>
            <a:ext cx="2555640" cy="1343520"/>
          </a:xfrm>
          <a:prstGeom prst="rect">
            <a:avLst/>
          </a:prstGeom>
          <a:ln w="0">
            <a:noFill/>
          </a:ln>
        </p:spPr>
      </p:pic>
      <p:sp>
        <p:nvSpPr>
          <p:cNvPr id="444" name="CustomShape 3"/>
          <p:cNvSpPr/>
          <p:nvPr/>
        </p:nvSpPr>
        <p:spPr>
          <a:xfrm>
            <a:off x="4798080" y="743040"/>
            <a:ext cx="42314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Una WAN es una infraestructura de la red que abarca un área geográfica extensa.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445" name="Picture 5" descr=""/>
          <p:cNvPicPr/>
          <p:nvPr/>
        </p:nvPicPr>
        <p:blipFill>
          <a:blip r:embed="rId2"/>
          <a:stretch/>
        </p:blipFill>
        <p:spPr>
          <a:xfrm>
            <a:off x="4818240" y="1366560"/>
            <a:ext cx="3499920" cy="14122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46" name="Table 4"/>
          <p:cNvGraphicFramePr/>
          <p:nvPr/>
        </p:nvGraphicFramePr>
        <p:xfrm>
          <a:off x="396720" y="2779560"/>
          <a:ext cx="8384760" cy="1884960"/>
        </p:xfrm>
        <a:graphic>
          <a:graphicData uri="http://schemas.openxmlformats.org/drawingml/2006/table">
            <a:tbl>
              <a:tblPr/>
              <a:tblGrid>
                <a:gridCol w="4012200"/>
                <a:gridCol w="4372920"/>
              </a:tblGrid>
              <a:tr h="331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LAN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WAN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5180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Interconectar dispositivos finales en un área limitada.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Interconectar LAN en amplias áreas geográficas.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5180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Administrado por una sola organización o individuo.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Generalmente administrado por uno o más proveedores de servicios.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51804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Proporcionar ancho de banda de alta velocidad a dispositivos internos.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Por lo general, proporciona enlaces de menor velocidad entre las LAN.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Tipos comunes de redes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 Internet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48" name="CustomShape 2"/>
          <p:cNvSpPr/>
          <p:nvPr/>
        </p:nvSpPr>
        <p:spPr>
          <a:xfrm>
            <a:off x="122400" y="798840"/>
            <a:ext cx="4169520" cy="40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Internet es una colección mundial de LAN y WAN interconectadas. </a:t>
            </a:r>
            <a:endParaRPr b="0" lang="es-ES" sz="16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LAN se conectan entre sí mediante redes WAN.</a:t>
            </a:r>
            <a:endParaRPr b="0" lang="es-ES" sz="16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WAN pueden usar cables de cobre, cables de fibra óptica y transmisiones inalámbricas.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Internet no pertenece a una persona o un grupo. Los siguientes grupos se desarrollaron para ayudar a mantener la estructura en Internet: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IETF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ICANN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IAB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449" name="Picture 1" descr=""/>
          <p:cNvPicPr/>
          <p:nvPr/>
        </p:nvPicPr>
        <p:blipFill>
          <a:blip r:embed="rId1"/>
          <a:stretch/>
        </p:blipFill>
        <p:spPr>
          <a:xfrm>
            <a:off x="4180680" y="798840"/>
            <a:ext cx="4962600" cy="32389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Tipos comunes de redes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Intranets y Extranets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51" name="CustomShape 2"/>
          <p:cNvSpPr/>
          <p:nvPr/>
        </p:nvSpPr>
        <p:spPr>
          <a:xfrm>
            <a:off x="4648320" y="1109160"/>
            <a:ext cx="4066920" cy="30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Una intranet es una colección privada de LAN y WAN internas de una organización que debe ser accesible solo para los miembros de la organización u otros con autorización.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Una organización puede utilizar una red extranet para proporcionar un acceso seguro a su red por parte de personas que trabajan para otra organización y que necesitan tener acceso a sus datos en su red.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452" name="Picture 2" descr=""/>
          <p:cNvPicPr/>
          <p:nvPr/>
        </p:nvPicPr>
        <p:blipFill>
          <a:blip r:embed="rId1"/>
          <a:stretch/>
        </p:blipFill>
        <p:spPr>
          <a:xfrm>
            <a:off x="95040" y="865080"/>
            <a:ext cx="3790440" cy="37630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CustomShape 1"/>
          <p:cNvSpPr/>
          <p:nvPr/>
        </p:nvSpPr>
        <p:spPr>
          <a:xfrm>
            <a:off x="416520" y="915480"/>
            <a:ext cx="8230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0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1.5 Conexiones de internet</a:t>
            </a:r>
            <a:endParaRPr b="0" lang="es-E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a Internet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Tecnologías de acceso a Internet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55" name="CustomShape 2"/>
          <p:cNvSpPr/>
          <p:nvPr/>
        </p:nvSpPr>
        <p:spPr>
          <a:xfrm>
            <a:off x="5169960" y="500400"/>
            <a:ext cx="3822120" cy="42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Hay muchas formas de conectar usuarios y organizaciones a Internet: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servicios más utilizados para los usuarios domésticos y las oficinas pequeñas incluyen banda ancha por cable, banda ancha por línea de suscriptor digital (DSL), redes WAN inalámbricas y servicios móviles.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organizaciones necesitan conexiones más rápidas para admitir los teléfonos IP, las videoconferencias y el almacenamiento del centro de datos.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Por lo general, los proveedores de servicios (SP) son quienes proporcionan interconexiones de nivel empresarial y pueden incluir DSL empresarial, líneas arrendadas y red Metro Ethernet.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456" name="Picture 2" descr=""/>
          <p:cNvPicPr/>
          <p:nvPr/>
        </p:nvPicPr>
        <p:blipFill>
          <a:blip r:embed="rId1"/>
          <a:stretch/>
        </p:blipFill>
        <p:spPr>
          <a:xfrm>
            <a:off x="102600" y="943560"/>
            <a:ext cx="5066640" cy="28663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CustomShape 1"/>
          <p:cNvSpPr/>
          <p:nvPr/>
        </p:nvSpPr>
        <p:spPr>
          <a:xfrm>
            <a:off x="0" y="41400"/>
            <a:ext cx="914328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8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de Internet</a:t>
            </a:r>
            <a:br/>
            <a:r>
              <a:rPr b="0" lang="es-419" sz="32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Home and Small Office Conexiones de Internet</a:t>
            </a:r>
            <a:endParaRPr b="0" lang="es-ES" sz="3200" spc="-1" strike="noStrike">
              <a:latin typeface="Arial"/>
            </a:endParaRPr>
          </a:p>
        </p:txBody>
      </p:sp>
      <p:graphicFrame>
        <p:nvGraphicFramePr>
          <p:cNvPr id="458" name="Table 2"/>
          <p:cNvGraphicFramePr/>
          <p:nvPr/>
        </p:nvGraphicFramePr>
        <p:xfrm>
          <a:off x="4690440" y="798480"/>
          <a:ext cx="4276800" cy="4219560"/>
        </p:xfrm>
        <a:graphic>
          <a:graphicData uri="http://schemas.openxmlformats.org/drawingml/2006/table">
            <a:tbl>
              <a:tblPr/>
              <a:tblGrid>
                <a:gridCol w="1159560"/>
                <a:gridCol w="3117600"/>
              </a:tblGrid>
              <a:tr h="4806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Conexión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8910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Cable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Internet de alto ancho de banda, siempre encendido, ofrecido por los proveedores de servicios de televisión por cable.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8910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DSL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Ancho de banda alto, siempre conectado, conexión a Internet que se ejecuta a través de una línea telefónica.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5749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celular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utiliza una red de telefonía celular para conectarse a internet.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691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Satélite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gran beneficio para las zonas rurales sin proveedores de servicios de Internet.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691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Teléfono de marcación 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Una opción económica de bajo ancho de banda que utiliza un módem.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  <p:pic>
        <p:nvPicPr>
          <p:cNvPr id="459" name="Picture 1" descr=""/>
          <p:cNvPicPr/>
          <p:nvPr/>
        </p:nvPicPr>
        <p:blipFill>
          <a:blip r:embed="rId1"/>
          <a:stretch/>
        </p:blipFill>
        <p:spPr>
          <a:xfrm>
            <a:off x="5400" y="798480"/>
            <a:ext cx="4683960" cy="30556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CustomShape 1"/>
          <p:cNvSpPr/>
          <p:nvPr/>
        </p:nvSpPr>
        <p:spPr>
          <a:xfrm>
            <a:off x="87480" y="41400"/>
            <a:ext cx="896220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de Internet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Negocios Conexiones de Internet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61" name="CustomShape 2"/>
          <p:cNvSpPr/>
          <p:nvPr/>
        </p:nvSpPr>
        <p:spPr>
          <a:xfrm>
            <a:off x="87480" y="804960"/>
            <a:ext cx="41616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conexiones empresariales corporativas pueden requerir: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Mayor ancho de banda 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Conexiones dedicadas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Servicios gestionados  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462" name="Picture 1" descr=""/>
          <p:cNvPicPr/>
          <p:nvPr/>
        </p:nvPicPr>
        <p:blipFill>
          <a:blip r:embed="rId1"/>
          <a:stretch/>
        </p:blipFill>
        <p:spPr>
          <a:xfrm>
            <a:off x="281880" y="2354760"/>
            <a:ext cx="3967560" cy="24570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63" name="Table 3"/>
          <p:cNvGraphicFramePr/>
          <p:nvPr/>
        </p:nvGraphicFramePr>
        <p:xfrm>
          <a:off x="4690440" y="798480"/>
          <a:ext cx="4276800" cy="3850920"/>
        </p:xfrm>
        <a:graphic>
          <a:graphicData uri="http://schemas.openxmlformats.org/drawingml/2006/table">
            <a:tbl>
              <a:tblPr/>
              <a:tblGrid>
                <a:gridCol w="1159560"/>
                <a:gridCol w="3117600"/>
              </a:tblGrid>
              <a:tr h="50292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Tipo de conexión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419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109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Línea dedicada arrendada 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Estos son circuitos reservados dentro de la red del proveedor de servicios que conectan oficinas distantes con redes privadas de voz y / o datos.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6753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WAN Ethernet 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Esto extiende la tecnología de acceso LAN a la WAN.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8910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DSL 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Business DSL está disponible en varios formatos, incluidas las líneas de suscriptor digital simétrico (SDSL).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6912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Satélite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Esto puede proporcionar una conexión cuando una solución cableada no está disponible.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CustomShape 1"/>
          <p:cNvSpPr/>
          <p:nvPr/>
        </p:nvSpPr>
        <p:spPr>
          <a:xfrm>
            <a:off x="87480" y="41400"/>
            <a:ext cx="387072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a Internet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La red convergente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65" name="CustomShape 2"/>
          <p:cNvSpPr/>
          <p:nvPr/>
        </p:nvSpPr>
        <p:spPr>
          <a:xfrm>
            <a:off x="87480" y="1069200"/>
            <a:ext cx="387072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Antes de las redes convergentes, una organización habría sido cableada por separado para el teléfono, el vídeo y los datos. Cada una de estas redes usaría diferentes tecnologías para transportar la señal.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Cada una de estas tecnologías utilizaría un conjunto diferente de reglas y estándares.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466" name="Picture 4" descr=""/>
          <p:cNvPicPr/>
          <p:nvPr/>
        </p:nvPicPr>
        <p:blipFill>
          <a:blip r:embed="rId1"/>
          <a:stretch/>
        </p:blipFill>
        <p:spPr>
          <a:xfrm>
            <a:off x="3958920" y="798840"/>
            <a:ext cx="4807440" cy="31593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CustomShape 1"/>
          <p:cNvSpPr/>
          <p:nvPr/>
        </p:nvSpPr>
        <p:spPr>
          <a:xfrm>
            <a:off x="87480" y="41400"/>
            <a:ext cx="48574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a Internet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La red convergente (cont.) 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68" name="CustomShape 2"/>
          <p:cNvSpPr/>
          <p:nvPr/>
        </p:nvSpPr>
        <p:spPr>
          <a:xfrm>
            <a:off x="223200" y="879480"/>
            <a:ext cx="3735000" cy="30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de datos convergentes transportan múltiples servicios en un enlace que incluyen: 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Datos 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Voz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Video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convergentes pueden entregar datos, voz y video a través de la misma infraestructura de red. La infraestructura de la red utiliza el mismo conjunto de reglas y normas.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469" name="Picture 3" descr=""/>
          <p:cNvPicPr/>
          <p:nvPr/>
        </p:nvPicPr>
        <p:blipFill>
          <a:blip r:embed="rId1"/>
          <a:stretch/>
        </p:blipFill>
        <p:spPr>
          <a:xfrm>
            <a:off x="3958920" y="875880"/>
            <a:ext cx="4976640" cy="30855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a Internet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 - Descargue e instale Packet Tracer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71" name="CustomShape 2"/>
          <p:cNvSpPr/>
          <p:nvPr/>
        </p:nvSpPr>
        <p:spPr>
          <a:xfrm>
            <a:off x="389520" y="982080"/>
            <a:ext cx="83642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s-419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Este vídeo mostrará el proceso de descarga e instalación de Packet Tracer.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CustomShape 1"/>
          <p:cNvSpPr/>
          <p:nvPr/>
        </p:nvSpPr>
        <p:spPr>
          <a:xfrm>
            <a:off x="0" y="1584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a Internet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 - Introducción a Cisco Packet Tracer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73" name="CustomShape 2"/>
          <p:cNvSpPr/>
          <p:nvPr/>
        </p:nvSpPr>
        <p:spPr>
          <a:xfrm>
            <a:off x="228600" y="914400"/>
            <a:ext cx="783108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s-419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Este video cubrirá lo siguiente:</a:t>
            </a:r>
            <a:endParaRPr b="0" lang="es-ES" sz="1800" spc="-1" strike="noStrike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s-419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Navegar por la interfaz Packet Tracer</a:t>
            </a:r>
            <a:endParaRPr b="0" lang="es-ES" sz="1800" spc="-1" strike="noStrike">
              <a:latin typeface="Arial"/>
            </a:endParaRPr>
          </a:p>
          <a:p>
            <a:pPr marL="285840" indent="-285120">
              <a:lnSpc>
                <a:spcPct val="100000"/>
              </a:lnSpc>
              <a:buClr>
                <a:srgbClr val="58585b"/>
              </a:buClr>
              <a:buFont typeface="Arial"/>
              <a:buChar char="•"/>
            </a:pPr>
            <a:r>
              <a:rPr b="0" lang="es-419" sz="1800" spc="-1" strike="noStrike">
                <a:solidFill>
                  <a:srgbClr val="58585b"/>
                </a:solidFill>
                <a:latin typeface="Arial"/>
                <a:ea typeface="ＭＳ Ｐゴシック"/>
              </a:rPr>
              <a:t>Personalizar la interfaz de trazador de paquetes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Conexiones de internet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Packet Tracer – Representación de red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75" name="CustomShape 2"/>
          <p:cNvSpPr/>
          <p:nvPr/>
        </p:nvSpPr>
        <p:spPr>
          <a:xfrm>
            <a:off x="144000" y="798840"/>
            <a:ext cx="8852400" cy="34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 este trazador de paquetes hará lo siguiente: 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modelo de red en esta actividad incluye muchas de las tecnologías que llegará a dominar en sus estudios en CCNA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1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Nota</a:t>
            </a: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: No es importante que comprenda todo lo que vea y haga en esta actividad. </a:t>
            </a:r>
            <a:endParaRPr b="0" lang="es-E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CustomShape 1"/>
          <p:cNvSpPr/>
          <p:nvPr/>
        </p:nvSpPr>
        <p:spPr>
          <a:xfrm>
            <a:off x="416520" y="915480"/>
            <a:ext cx="8230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0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1.6 Redes confiables</a:t>
            </a:r>
            <a:endParaRPr b="0" lang="es-E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CustomShape 1"/>
          <p:cNvSpPr/>
          <p:nvPr/>
        </p:nvSpPr>
        <p:spPr>
          <a:xfrm>
            <a:off x="8748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 confiable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Arquitectura de red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78" name="CustomShape 2"/>
          <p:cNvSpPr/>
          <p:nvPr/>
        </p:nvSpPr>
        <p:spPr>
          <a:xfrm>
            <a:off x="4883400" y="414720"/>
            <a:ext cx="4191840" cy="40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arquitectura de red se refiere a las tecnologías que admiten la infraestructura que mueve los datos a través de la red.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Existen cuatro características básicas que las arquitecturas subyacentes deben abordar para cumplir con las expectativas del usuario: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Tolerancia a fallas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Escalabilidad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Calidad de servicio (QoS)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Seguridad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479" name="Picture 1" descr=""/>
          <p:cNvPicPr/>
          <p:nvPr/>
        </p:nvPicPr>
        <p:blipFill>
          <a:blip r:embed="rId1"/>
          <a:stretch/>
        </p:blipFill>
        <p:spPr>
          <a:xfrm>
            <a:off x="448560" y="824400"/>
            <a:ext cx="3771720" cy="37242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CustomShape 1"/>
          <p:cNvSpPr/>
          <p:nvPr/>
        </p:nvSpPr>
        <p:spPr>
          <a:xfrm>
            <a:off x="87480" y="41400"/>
            <a:ext cx="88747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 confiable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Tolerancia de fallas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81" name="CustomShape 2"/>
          <p:cNvSpPr/>
          <p:nvPr/>
        </p:nvSpPr>
        <p:spPr>
          <a:xfrm>
            <a:off x="202680" y="698760"/>
            <a:ext cx="4173840" cy="40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Una red con tolerancia a fallas disminuye el impacto de una falla al limitar la cantidad de dispositivos afectados. Para la tolerancia a fallas, se necesitan varias rutas.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confiables proporcionan redundancia al implementar una red de paquetes conmutados: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conmutación por paquetes divide el tráfico en paquetes que se enrutan a través de una red. 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 teoría, cada paquete puede tomar una ruta diferente hacia el destino.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Esto no es posible con las redes conmutadas por circuitos que establecen circuitos dedicados.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482" name="Picture 1" descr=""/>
          <p:cNvPicPr/>
          <p:nvPr/>
        </p:nvPicPr>
        <p:blipFill>
          <a:blip r:embed="rId1"/>
          <a:stretch/>
        </p:blipFill>
        <p:spPr>
          <a:xfrm>
            <a:off x="4308840" y="756000"/>
            <a:ext cx="4768560" cy="30787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CustomShape 1"/>
          <p:cNvSpPr/>
          <p:nvPr/>
        </p:nvSpPr>
        <p:spPr>
          <a:xfrm>
            <a:off x="8748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 confiable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Escalabilidad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84" name="CustomShape 2"/>
          <p:cNvSpPr/>
          <p:nvPr/>
        </p:nvSpPr>
        <p:spPr>
          <a:xfrm>
            <a:off x="5432040" y="784080"/>
            <a:ext cx="3529080" cy="33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Una red escalable puede expandirse fácil y rápidamente para admitir nuevos usuarios y nuevas aplicaciones sin afectar el rendimiento de los servicios de los usuarios actuales.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diseñadores de redes siguen normas y protocolos aceptados para hacer que las redes sean escalables.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485" name="Picture 2" descr=""/>
          <p:cNvPicPr/>
          <p:nvPr/>
        </p:nvPicPr>
        <p:blipFill>
          <a:blip r:embed="rId1"/>
          <a:stretch/>
        </p:blipFill>
        <p:spPr>
          <a:xfrm>
            <a:off x="87480" y="984240"/>
            <a:ext cx="5233680" cy="36392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CustomShape 1"/>
          <p:cNvSpPr/>
          <p:nvPr/>
        </p:nvSpPr>
        <p:spPr>
          <a:xfrm>
            <a:off x="87480" y="41400"/>
            <a:ext cx="905580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 confiable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Calidad de servicio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87" name="CustomShape 2"/>
          <p:cNvSpPr/>
          <p:nvPr/>
        </p:nvSpPr>
        <p:spPr>
          <a:xfrm>
            <a:off x="87480" y="798840"/>
            <a:ext cx="3808440" cy="41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transmisiones de voz y vídeo en vivo requieren mayores expectativas para los servicios que se proporcionan. 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¿Alguna vez miró un vídeo en vivo con interrupciones y pausas constantes? Esto sucede cuando existe una mayor demanda de ancho de banda que la que hay disponible y la QoS no está configurada.</a:t>
            </a:r>
            <a:endParaRPr b="0" lang="es-ES" sz="15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calidad de servicio (QoS) es el principal mecanismo que se utiliza para garantizar la entrega confiable de contenido a todos los usuarios. </a:t>
            </a:r>
            <a:endParaRPr b="0" lang="es-ES" sz="15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 la implementación de una política de QoS, el router puede administrar más fácilmente el flujo del tráfico de voz y de datos.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500" spc="-1" strike="noStrike">
              <a:latin typeface="Arial"/>
            </a:endParaRPr>
          </a:p>
        </p:txBody>
      </p:sp>
      <p:pic>
        <p:nvPicPr>
          <p:cNvPr id="488" name="Picture 2" descr=""/>
          <p:cNvPicPr/>
          <p:nvPr/>
        </p:nvPicPr>
        <p:blipFill>
          <a:blip r:embed="rId1"/>
          <a:stretch/>
        </p:blipFill>
        <p:spPr>
          <a:xfrm>
            <a:off x="3896640" y="798840"/>
            <a:ext cx="5105520" cy="39085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CustomShape 1"/>
          <p:cNvSpPr/>
          <p:nvPr/>
        </p:nvSpPr>
        <p:spPr>
          <a:xfrm>
            <a:off x="87480" y="41400"/>
            <a:ext cx="52336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 confiable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Seguridad de la red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90" name="CustomShape 2"/>
          <p:cNvSpPr/>
          <p:nvPr/>
        </p:nvSpPr>
        <p:spPr>
          <a:xfrm>
            <a:off x="5164560" y="132480"/>
            <a:ext cx="3686400" cy="459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Existen dos tipos principales de seguridad de la red que se deben abordar:  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Seguridad de la infraestructura de la red</a:t>
            </a:r>
            <a:endParaRPr b="0" lang="es-ES" sz="15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Seguridad física de los dispositivos de red</a:t>
            </a:r>
            <a:endParaRPr b="0" lang="es-ES" sz="14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Prevenir el acceso no autorizado a los dispositivos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Seguridad de la información</a:t>
            </a:r>
            <a:endParaRPr b="0" lang="es-ES" sz="15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Protección de la información o de los datos transmitidos a través de la red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Tres objetivos de seguridad de la red: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Confidencialidad: solo los destinatarios deseados pueden leer los datos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Integridad: garantía de que los datos no se alteraron durante la transmisión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Disponibilidad: garantía del acceso confiable y oportuno a los datos por parte de los usuarios autorizados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</p:txBody>
      </p:sp>
      <p:pic>
        <p:nvPicPr>
          <p:cNvPr id="491" name="Picture 1" descr=""/>
          <p:cNvPicPr/>
          <p:nvPr/>
        </p:nvPicPr>
        <p:blipFill>
          <a:blip r:embed="rId1"/>
          <a:stretch/>
        </p:blipFill>
        <p:spPr>
          <a:xfrm>
            <a:off x="87480" y="988560"/>
            <a:ext cx="4974840" cy="36439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CustomShape 1"/>
          <p:cNvSpPr/>
          <p:nvPr/>
        </p:nvSpPr>
        <p:spPr>
          <a:xfrm>
            <a:off x="416520" y="915480"/>
            <a:ext cx="8230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0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1.7 Tendencias de red</a:t>
            </a:r>
            <a:endParaRPr b="0" lang="es-E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CustomShape 1"/>
          <p:cNvSpPr/>
          <p:nvPr/>
        </p:nvSpPr>
        <p:spPr>
          <a:xfrm>
            <a:off x="8748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recientes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94" name="CustomShape 2"/>
          <p:cNvSpPr/>
          <p:nvPr/>
        </p:nvSpPr>
        <p:spPr>
          <a:xfrm>
            <a:off x="5321880" y="555840"/>
            <a:ext cx="3529080" cy="38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función de la red se debe ajustar y transformar continuamente para poder mantenerse al día con las nuevas tecnologías y los nuevos dispositivos para usuarios finales, ya que se lanzan al mercado de manera constante. 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Muchas nuevas tendencias de red que afectarán a organizaciones y consumidores: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Traiga su propio dispositivo (BYOD)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Colaboración en línea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Comunicaciones de video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Computación en la nube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</p:txBody>
      </p:sp>
      <p:pic>
        <p:nvPicPr>
          <p:cNvPr id="495" name="Picture 2" descr=""/>
          <p:cNvPicPr/>
          <p:nvPr/>
        </p:nvPicPr>
        <p:blipFill>
          <a:blip r:embed="rId1"/>
          <a:stretch/>
        </p:blipFill>
        <p:spPr>
          <a:xfrm>
            <a:off x="87480" y="798840"/>
            <a:ext cx="5171400" cy="37234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CustomShape 1"/>
          <p:cNvSpPr/>
          <p:nvPr/>
        </p:nvSpPr>
        <p:spPr>
          <a:xfrm>
            <a:off x="87480" y="41400"/>
            <a:ext cx="52336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Trae tu propio dispositivo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97" name="CustomShape 2"/>
          <p:cNvSpPr/>
          <p:nvPr/>
        </p:nvSpPr>
        <p:spPr>
          <a:xfrm>
            <a:off x="5321880" y="274320"/>
            <a:ext cx="3529080" cy="43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Trae tu propio dispositivo (BYOD) permite a los usuarios usar sus propios dispositivos, dándoles más oportunidades y una mayor flexibilidad. </a:t>
            </a:r>
            <a:endParaRPr b="0" lang="es-ES" sz="1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BYOD permite a los usuarios finales tener la libertad de utilizar herramientas personales para comunicarse y acceder a información mediante los siguientes dispositivos: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Computadoras portátiles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Netbooks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Tablets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Smartphones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Lectores de libros electrónicos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BYOD significa que se puede usar cualquier dispositivo, de cualquier persona, en cualquier lugar.</a:t>
            </a:r>
            <a:endParaRPr b="0" lang="es-ES" sz="1500" spc="-1" strike="noStrike">
              <a:latin typeface="Arial"/>
            </a:endParaRPr>
          </a:p>
        </p:txBody>
      </p:sp>
      <p:pic>
        <p:nvPicPr>
          <p:cNvPr id="498" name="Picture 1" descr=""/>
          <p:cNvPicPr/>
          <p:nvPr/>
        </p:nvPicPr>
        <p:blipFill>
          <a:blip r:embed="rId1"/>
          <a:stretch/>
        </p:blipFill>
        <p:spPr>
          <a:xfrm>
            <a:off x="207000" y="894240"/>
            <a:ext cx="5114160" cy="36950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CustomShape 1"/>
          <p:cNvSpPr/>
          <p:nvPr/>
        </p:nvSpPr>
        <p:spPr>
          <a:xfrm>
            <a:off x="87480" y="41400"/>
            <a:ext cx="461664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Colaboración en línea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00" name="CustomShape 2"/>
          <p:cNvSpPr/>
          <p:nvPr/>
        </p:nvSpPr>
        <p:spPr>
          <a:xfrm>
            <a:off x="5357880" y="684720"/>
            <a:ext cx="3529080" cy="37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Colaborar y trabajar con otros a través de la red en proyectos conjuntos.</a:t>
            </a:r>
            <a:endParaRPr b="0" lang="es-ES" sz="15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herramientas de colaboración, incluido Cisco WebEx (que se muestra en la figura), brindan a los usuarios una forma de conectarse e interactuar instantáneamente.</a:t>
            </a:r>
            <a:endParaRPr b="0" lang="es-ES" sz="15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colaboración es una prioridad muy alta para las empresas y en la educación.</a:t>
            </a:r>
            <a:endParaRPr b="0" lang="es-ES" sz="15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Cisco Webex Teams es una herramienta de colaboración multifuncional.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Enviar mensajes instantáneos 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Publicar imágenes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Publicar vídeos y enlaces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s-ES" sz="1400" spc="-1" strike="noStrike">
              <a:latin typeface="Arial"/>
            </a:endParaRPr>
          </a:p>
        </p:txBody>
      </p:sp>
      <p:pic>
        <p:nvPicPr>
          <p:cNvPr id="501" name="Picture 1" descr=""/>
          <p:cNvPicPr/>
          <p:nvPr/>
        </p:nvPicPr>
        <p:blipFill>
          <a:blip r:embed="rId1"/>
          <a:stretch/>
        </p:blipFill>
        <p:spPr>
          <a:xfrm>
            <a:off x="274680" y="1202040"/>
            <a:ext cx="4835160" cy="27187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CustomShape 1"/>
          <p:cNvSpPr/>
          <p:nvPr/>
        </p:nvSpPr>
        <p:spPr>
          <a:xfrm>
            <a:off x="87480" y="41400"/>
            <a:ext cx="905580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Comunicación por video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03" name="CustomShape 2"/>
          <p:cNvSpPr/>
          <p:nvPr/>
        </p:nvSpPr>
        <p:spPr>
          <a:xfrm>
            <a:off x="313200" y="802800"/>
            <a:ext cx="7929000" cy="24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videollamadas se realizan a cualquier persona, independientemente de dónde se encuentren.</a:t>
            </a:r>
            <a:endParaRPr b="0" lang="es-ES" sz="18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videoconferencia es una herramienta poderosa para comunicarse con otros.</a:t>
            </a:r>
            <a:endParaRPr b="0" lang="es-ES" sz="18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vídeo se está convirtiendo en un requisito crítico para una colaboración eficaz.</a:t>
            </a:r>
            <a:endParaRPr b="0" lang="es-ES" sz="1800" spc="-1" strike="noStrike">
              <a:latin typeface="Arial"/>
            </a:endParaRPr>
          </a:p>
          <a:p>
            <a:pPr marL="169920" indent="-169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poderes de Cisco TelePresence son una forma de trabajar donde todos, en todas partes</a:t>
            </a: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. </a:t>
            </a:r>
            <a:r>
              <a:rPr b="0" lang="es-419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8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CustomShape 1"/>
          <p:cNvSpPr/>
          <p:nvPr/>
        </p:nvSpPr>
        <p:spPr>
          <a:xfrm>
            <a:off x="87480" y="41400"/>
            <a:ext cx="905580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Vídeo de Tendencias de Red — Cisco WebEx para Reuniones</a:t>
            </a:r>
            <a:endParaRPr b="0" lang="es-ES" sz="2400" spc="-1" strike="noStrike">
              <a:latin typeface="Arial"/>
            </a:endParaRPr>
          </a:p>
        </p:txBody>
      </p:sp>
      <p:pic>
        <p:nvPicPr>
          <p:cNvPr id="505" name="Content Placeholder 6" descr=""/>
          <p:cNvPicPr/>
          <p:nvPr/>
        </p:nvPicPr>
        <p:blipFill>
          <a:blip r:embed="rId1"/>
          <a:stretch/>
        </p:blipFill>
        <p:spPr>
          <a:xfrm>
            <a:off x="1209960" y="798840"/>
            <a:ext cx="6810840" cy="38642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CustomShape 1"/>
          <p:cNvSpPr/>
          <p:nvPr/>
        </p:nvSpPr>
        <p:spPr>
          <a:xfrm>
            <a:off x="87480" y="41400"/>
            <a:ext cx="508212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Computación en la nube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07" name="CustomShape 2"/>
          <p:cNvSpPr/>
          <p:nvPr/>
        </p:nvSpPr>
        <p:spPr>
          <a:xfrm>
            <a:off x="87480" y="1031760"/>
            <a:ext cx="8861400" cy="32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computación en la nube nos permite almacenar archivos personales o respaldar nuestros datos en servidores a través de Internet. 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También se puede acceder a las aplicaciones mediante la nube.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Permite a las empresas entregar a cualquier dispositivo en cualquier parte del mundo.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computación en la nube es posible gracias a los centros de datos. 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empresas más pequeñas que no pueden costear sus propios centros de datos, arriendan servicios de servidores y almacenamiento de organizaciones con centro de datos más grandes en la nube.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4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CustomShape 1"/>
          <p:cNvSpPr/>
          <p:nvPr/>
        </p:nvSpPr>
        <p:spPr>
          <a:xfrm>
            <a:off x="87480" y="41400"/>
            <a:ext cx="475236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Computación en la nube (Cont.)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09" name="CustomShape 2"/>
          <p:cNvSpPr/>
          <p:nvPr/>
        </p:nvSpPr>
        <p:spPr>
          <a:xfrm>
            <a:off x="152280" y="1073520"/>
            <a:ext cx="8850240" cy="36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Cuatro tipos de nubes: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Nubes públicas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Disponible para el público en general a través de un modelo de pago por uso o de forma gratuita.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Nubes privadas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Destinado a una organización o entidad específica como el gobierno.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Nubes híbridas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Están compuestas por dos o más tipos de nubes; por ejemplo, mitad personalizada y mitad pública. 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Cada parte sigue siendo un objeto distinto, pero ambas están conectadas con la misma arquitectura.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Nubes personalizadas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Creado para satisfacer las necesidades de una industria específica, como la atención médica o los medios de comunicación. 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Puede ser privado o público.</a:t>
            </a: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CustomShape 1"/>
          <p:cNvSpPr/>
          <p:nvPr/>
        </p:nvSpPr>
        <p:spPr>
          <a:xfrm>
            <a:off x="8748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tecnológicas en el hogar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11" name="CustomShape 2"/>
          <p:cNvSpPr/>
          <p:nvPr/>
        </p:nvSpPr>
        <p:spPr>
          <a:xfrm>
            <a:off x="4986720" y="798840"/>
            <a:ext cx="3719520" cy="32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tecnología del hogar inteligente es una tendencia en alza que permite que la tecnología se integre a los dispositivos que se utilizan a diario, lo que permite que se interconecten con otros dispositivos.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hornos podrían reconocer cuándo cocinar una comida para usted mediante la comunicación con su calendario para saber la hora en la que tiene programado regresar a casa.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tecnología de hogar inteligente se está desarrollando actualmente para todas las habitaciones dentro de una casa.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512" name="Picture 1" descr=""/>
          <p:cNvPicPr/>
          <p:nvPr/>
        </p:nvPicPr>
        <p:blipFill>
          <a:blip r:embed="rId1"/>
          <a:stretch/>
        </p:blipFill>
        <p:spPr>
          <a:xfrm>
            <a:off x="87480" y="798840"/>
            <a:ext cx="4795560" cy="38512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8748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Redes de línea eléctrica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14" name="CustomShape 2"/>
          <p:cNvSpPr/>
          <p:nvPr/>
        </p:nvSpPr>
        <p:spPr>
          <a:xfrm>
            <a:off x="5442120" y="130680"/>
            <a:ext cx="3306960" cy="35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por línea eléctrica pueden permitir que los dispositivos se conecten a una red LAN donde los cables de la red de datos o las comunicaciones inalámbricas no son una opción viable.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 un adaptador estándar de línea eléctrica, los dispositivos pueden conectarse a la red LAN donde haya un tomacorriente mediante el envío de datos en determinadas frecuencias.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red Powerline es especialmente útil cuando los puntos de acceso inalámbrico no pueden llegar a todos los dispositivos en el hogar.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515" name="Picture 1" descr=""/>
          <p:cNvPicPr/>
          <p:nvPr/>
        </p:nvPicPr>
        <p:blipFill>
          <a:blip r:embed="rId1"/>
          <a:stretch/>
        </p:blipFill>
        <p:spPr>
          <a:xfrm>
            <a:off x="87480" y="798840"/>
            <a:ext cx="5353920" cy="28440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87480" y="41400"/>
            <a:ext cx="487476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Tendencias de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Banda ancha inalámbrica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5227200" y="798840"/>
            <a:ext cx="3672720" cy="35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Además de DSL y cable, la conexión inalámbrica es otra opción utilizada para conectar hogares y pequeñas empresas a Internet. </a:t>
            </a:r>
            <a:endParaRPr b="0" lang="es-ES" sz="14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proveedor de servicios de Internet inalámbrico (WISP), que se encuentra con mayor frecuencia en entornos rurales, es un ISP que conecta a los suscriptores a zonas activas o puntos de acceso designados. </a:t>
            </a:r>
            <a:endParaRPr b="0" lang="es-ES" sz="12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banda ancha inalámbrica es otra solución para el hogar y las pequeñas empresas.</a:t>
            </a:r>
            <a:endParaRPr b="0" lang="es-ES" sz="1200" spc="-1" strike="noStrike">
              <a:latin typeface="Arial"/>
            </a:endParaRPr>
          </a:p>
          <a:p>
            <a:pPr lvl="3" marL="50328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1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Utiliza la misma tecnología de red celular que utiliza un Smartphone.</a:t>
            </a:r>
            <a:endParaRPr b="0" lang="es-ES" sz="1100" spc="-1" strike="noStrike">
              <a:latin typeface="Arial"/>
            </a:endParaRPr>
          </a:p>
          <a:p>
            <a:pPr lvl="3" marL="50328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1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 instala una antena fuera del hogar, que proporciona conectividad inalámbrica o por cable a los dispositivos en el hogar.</a:t>
            </a:r>
            <a:endParaRPr b="0" lang="es-ES" sz="1100" spc="-1" strike="noStrike">
              <a:latin typeface="Arial"/>
            </a:endParaRPr>
          </a:p>
        </p:txBody>
      </p:sp>
      <p:pic>
        <p:nvPicPr>
          <p:cNvPr id="518" name="Picture 1" descr=""/>
          <p:cNvPicPr/>
          <p:nvPr/>
        </p:nvPicPr>
        <p:blipFill>
          <a:blip r:embed="rId1"/>
          <a:stretch/>
        </p:blipFill>
        <p:spPr>
          <a:xfrm>
            <a:off x="200520" y="798840"/>
            <a:ext cx="4761720" cy="35614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CustomShape 1"/>
          <p:cNvSpPr/>
          <p:nvPr/>
        </p:nvSpPr>
        <p:spPr>
          <a:xfrm>
            <a:off x="416520" y="915480"/>
            <a:ext cx="8230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0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1.8 Seguridad de la red</a:t>
            </a:r>
            <a:endParaRPr b="0" lang="es-E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CustomShape 1"/>
          <p:cNvSpPr/>
          <p:nvPr/>
        </p:nvSpPr>
        <p:spPr>
          <a:xfrm>
            <a:off x="87480" y="41400"/>
            <a:ext cx="512244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Seguridad de la red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Amenazas de seguridad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21" name="CustomShape 2"/>
          <p:cNvSpPr/>
          <p:nvPr/>
        </p:nvSpPr>
        <p:spPr>
          <a:xfrm>
            <a:off x="5286960" y="361440"/>
            <a:ext cx="3672720" cy="38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seguridad de la red es una parte fundamental de la red sin importar su tamaño.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seguridad de la red que se implementa debe tener en cuenta el entorno y proteger los datos, pero, a su vez, debe permitir la calidad de servicio que se espera de la red.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protección de la red incluye muchos protocolos, tecnologías, dispositivos, herramientas y técnicas para proteger los datos y mitigar amenazas.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vectores de amenazas pueden ser externos o internos.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522" name="Picture 1" descr=""/>
          <p:cNvPicPr/>
          <p:nvPr/>
        </p:nvPicPr>
        <p:blipFill>
          <a:blip r:embed="rId1"/>
          <a:stretch/>
        </p:blipFill>
        <p:spPr>
          <a:xfrm>
            <a:off x="346320" y="1322640"/>
            <a:ext cx="4863600" cy="29815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CustomShape 1"/>
          <p:cNvSpPr/>
          <p:nvPr/>
        </p:nvSpPr>
        <p:spPr>
          <a:xfrm>
            <a:off x="87480" y="41400"/>
            <a:ext cx="512244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Seguridad de la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Amenazas de seguridad (Cont.)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24" name="CustomShape 2"/>
          <p:cNvSpPr/>
          <p:nvPr/>
        </p:nvSpPr>
        <p:spPr>
          <a:xfrm>
            <a:off x="5210640" y="277920"/>
            <a:ext cx="3672720" cy="43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Amenazas externas: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Virus, gusanos y caballos de Troya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Spyware y adware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Ataques de día cero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Ataques de actores de amenazas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Ataques por denegación de servicio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Intercepción y robo de datos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Robo de identidad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Amenazas internas: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dispositivos perdidos o robados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uso indebido accidental por parte de los empleados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empleados malintencionados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525" name="Picture 1" descr=""/>
          <p:cNvPicPr/>
          <p:nvPr/>
        </p:nvPicPr>
        <p:blipFill>
          <a:blip r:embed="rId1"/>
          <a:stretch/>
        </p:blipFill>
        <p:spPr>
          <a:xfrm>
            <a:off x="346320" y="1322640"/>
            <a:ext cx="4863600" cy="29815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CustomShape 1"/>
          <p:cNvSpPr/>
          <p:nvPr/>
        </p:nvSpPr>
        <p:spPr>
          <a:xfrm>
            <a:off x="87480" y="41400"/>
            <a:ext cx="426060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Seguridad de la red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Soluciones de seguridad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27" name="CustomShape 2"/>
          <p:cNvSpPr/>
          <p:nvPr/>
        </p:nvSpPr>
        <p:spPr>
          <a:xfrm>
            <a:off x="4572000" y="917640"/>
            <a:ext cx="4409640" cy="31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seguridad debe implementarse en varias capas y debe utilizarse más de una solución de seguridad.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Componentes de seguridad de la red para la red de oficinas en el hogar o de pequeñas oficinas: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 debe instalar un software antivirus y antispyware en los dispositivos finales.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filtrado de firewall se utiliza para bloquear accesos no autorizados a la red.</a:t>
            </a:r>
            <a:endParaRPr b="0" lang="es-ES" sz="16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528" name="Picture 2" descr=""/>
          <p:cNvPicPr/>
          <p:nvPr/>
        </p:nvPicPr>
        <p:blipFill>
          <a:blip r:embed="rId1"/>
          <a:stretch/>
        </p:blipFill>
        <p:spPr>
          <a:xfrm>
            <a:off x="87480" y="880920"/>
            <a:ext cx="4260600" cy="35139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CustomShape 1"/>
          <p:cNvSpPr/>
          <p:nvPr/>
        </p:nvSpPr>
        <p:spPr>
          <a:xfrm>
            <a:off x="87480" y="41400"/>
            <a:ext cx="364104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Seguridad de la red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Soluciones de seguridad (Cont.)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30" name="CustomShape 2"/>
          <p:cNvSpPr/>
          <p:nvPr/>
        </p:nvSpPr>
        <p:spPr>
          <a:xfrm>
            <a:off x="4311360" y="1032840"/>
            <a:ext cx="4744080" cy="31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más grandes tienen requisitos de seguridad adicionales: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Sistema de firewall dedicado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Listas de control de acceso (ACL) 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Sistemas de prevención de intrusiones (IPS)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Redes privadas virtuales (VPN)</a:t>
            </a:r>
            <a:endParaRPr b="0" lang="es-ES" sz="16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estudio de la seguridad de la red comienza con una comprensión clara de la infraestructura subyacente de conmutación y enrutamiento.</a:t>
            </a:r>
            <a:endParaRPr b="0" lang="es-ES" sz="1600" spc="-1" strike="noStrike">
              <a:latin typeface="Arial"/>
            </a:endParaRPr>
          </a:p>
          <a:p>
            <a:pPr marL="2620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endParaRPr b="0" lang="es-ES" sz="1600" spc="-1" strike="noStrike">
              <a:latin typeface="Arial"/>
            </a:endParaRPr>
          </a:p>
        </p:txBody>
      </p:sp>
      <p:pic>
        <p:nvPicPr>
          <p:cNvPr id="531" name="Picture 2" descr=""/>
          <p:cNvPicPr/>
          <p:nvPr/>
        </p:nvPicPr>
        <p:blipFill>
          <a:blip r:embed="rId1"/>
          <a:stretch/>
        </p:blipFill>
        <p:spPr>
          <a:xfrm>
            <a:off x="87480" y="943560"/>
            <a:ext cx="4223160" cy="34830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CustomShape 1"/>
          <p:cNvSpPr/>
          <p:nvPr/>
        </p:nvSpPr>
        <p:spPr>
          <a:xfrm>
            <a:off x="416520" y="915480"/>
            <a:ext cx="8230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0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1.9 El profesional de TI</a:t>
            </a:r>
            <a:endParaRPr b="0" lang="es-ES" sz="40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CustomShape 1"/>
          <p:cNvSpPr/>
          <p:nvPr/>
        </p:nvSpPr>
        <p:spPr>
          <a:xfrm>
            <a:off x="87480" y="41400"/>
            <a:ext cx="5371200" cy="9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El profesional de TI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CCNA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34" name="CustomShape 2"/>
          <p:cNvSpPr/>
          <p:nvPr/>
        </p:nvSpPr>
        <p:spPr>
          <a:xfrm>
            <a:off x="5459400" y="366840"/>
            <a:ext cx="3683880" cy="42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certificación Cisco Certified Network Associate (CCNA): </a:t>
            </a:r>
            <a:endParaRPr b="0" lang="es-ES" sz="14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demuestra que usted tiene un conocimiento de las tecnologías fundamentales </a:t>
            </a:r>
            <a:endParaRPr b="0" lang="es-ES" sz="12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le asegura mantenerse relevante con las habilidades necesarias para la adopción de tecnologías de próxima generación.</a:t>
            </a:r>
            <a:endParaRPr b="0" lang="es-ES" sz="12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 nuevo enfoque del CCNA:</a:t>
            </a:r>
            <a:endParaRPr b="0" lang="es-ES" sz="14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Temas de seguridad y fundamentos de IP</a:t>
            </a:r>
            <a:endParaRPr b="0" lang="es-ES" sz="12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Inalámbrica, virtualización, automatización y programabilidad de red. </a:t>
            </a:r>
            <a:endParaRPr b="0" lang="es-ES" sz="12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Nuevas certificaciones de DevNet en los niveles asociado, especialista y profesional para validar sus habilidades de desarrollo de software.</a:t>
            </a:r>
            <a:endParaRPr b="0" lang="es-ES" sz="1400" spc="-1" strike="noStrike">
              <a:latin typeface="Arial"/>
            </a:endParaRPr>
          </a:p>
          <a:p>
            <a:pPr marL="142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certificación especializada valida sus habilidades de acuerdo con su rol laboral y sus intereses.</a:t>
            </a:r>
            <a:endParaRPr b="0" lang="es-ES" sz="1400" spc="-1" strike="noStrike">
              <a:latin typeface="Arial"/>
            </a:endParaRPr>
          </a:p>
        </p:txBody>
      </p:sp>
      <p:pic>
        <p:nvPicPr>
          <p:cNvPr id="535" name="Picture 1" descr=""/>
          <p:cNvPicPr/>
          <p:nvPr/>
        </p:nvPicPr>
        <p:blipFill>
          <a:blip r:embed="rId1"/>
          <a:stretch/>
        </p:blipFill>
        <p:spPr>
          <a:xfrm>
            <a:off x="87480" y="1278000"/>
            <a:ext cx="5371200" cy="24498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87480" y="41400"/>
            <a:ext cx="4555440" cy="92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El profesional de TI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Puestos de Trabajo de Redes 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37" name="CustomShape 2"/>
          <p:cNvSpPr/>
          <p:nvPr/>
        </p:nvSpPr>
        <p:spPr>
          <a:xfrm>
            <a:off x="4773600" y="1238040"/>
            <a:ext cx="4042440" cy="26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 </a:t>
            </a:r>
            <a:r>
              <a:rPr b="0" lang="es-419" sz="1500" spc="-1" strike="noStrike" u="sng">
                <a:solidFill>
                  <a:srgbClr val="38c6f4"/>
                </a:solidFill>
                <a:uFillTx/>
                <a:latin typeface="Arial"/>
                <a:ea typeface="ＭＳ Ｐゴシック"/>
                <a:hlinkClick r:id="rId1"/>
              </a:rPr>
              <a:t>www.netacad.com</a:t>
            </a: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puede hacer clic en el menú Carreras y, a continuación, seleccionar Oportunidades de empleo. 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Encuentre oportunidades de empleo utilizando el Talent Bridge Matching Engine.</a:t>
            </a:r>
            <a:endParaRPr b="0" lang="es-ES" sz="16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Busque trabajos con Cisco, socios y distribuidores de Cisco que buscan alumnos y ex alumnos de Cisco Networking Academy.</a:t>
            </a:r>
            <a:endParaRPr b="0" lang="es-ES" sz="1600" spc="-1" strike="noStrike">
              <a:latin typeface="Arial"/>
            </a:endParaRPr>
          </a:p>
        </p:txBody>
      </p:sp>
      <p:pic>
        <p:nvPicPr>
          <p:cNvPr id="538" name="Picture 3" descr=""/>
          <p:cNvPicPr/>
          <p:nvPr/>
        </p:nvPicPr>
        <p:blipFill>
          <a:blip r:embed="rId2"/>
          <a:stretch/>
        </p:blipFill>
        <p:spPr>
          <a:xfrm>
            <a:off x="44280" y="1238040"/>
            <a:ext cx="4642200" cy="29365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CustomShape 1"/>
          <p:cNvSpPr/>
          <p:nvPr/>
        </p:nvSpPr>
        <p:spPr>
          <a:xfrm>
            <a:off x="87480" y="41400"/>
            <a:ext cx="847872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El profesional de TIl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Lab – Investigación de oportunidades de trabajo en redes y TI 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40" name="CustomShape 2"/>
          <p:cNvSpPr/>
          <p:nvPr/>
        </p:nvSpPr>
        <p:spPr>
          <a:xfrm>
            <a:off x="87480" y="914400"/>
            <a:ext cx="8852400" cy="16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419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 esta práctica de laboratorio se cumplirán los siguientes objetivos:</a:t>
            </a:r>
            <a:endParaRPr b="0" lang="es-ES" sz="15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Buscar oportunidades laborales</a:t>
            </a:r>
            <a:endParaRPr b="0" lang="es-ES" sz="1400" spc="-1" strike="noStrike">
              <a:latin typeface="Arial"/>
            </a:endParaRPr>
          </a:p>
          <a:p>
            <a:pPr lvl="1" marL="358920" indent="-21528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s-419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Reflexionar sobre la investigación</a:t>
            </a:r>
            <a:endParaRPr b="0" lang="es-ES" sz="14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CustomShape 1"/>
          <p:cNvSpPr/>
          <p:nvPr/>
        </p:nvSpPr>
        <p:spPr>
          <a:xfrm>
            <a:off x="416520" y="915480"/>
            <a:ext cx="75974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s-419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1.10 - Módulo de práctica y cuestionario </a:t>
            </a:r>
            <a:endParaRPr b="0" lang="es-ES" sz="46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CustomShape 1"/>
          <p:cNvSpPr/>
          <p:nvPr/>
        </p:nvSpPr>
        <p:spPr>
          <a:xfrm>
            <a:off x="87480" y="41400"/>
            <a:ext cx="455544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Práctica del módulo y cuestionario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¿Qué aprendí en este módulo?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43" name="CustomShape 2"/>
          <p:cNvSpPr/>
          <p:nvPr/>
        </p:nvSpPr>
        <p:spPr>
          <a:xfrm>
            <a:off x="0" y="801360"/>
            <a:ext cx="8839440" cy="35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través del uso de redes, estamos conectados como nunca antes.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Todas las computadoras que están conectadas a una red y participan directamente en la comunicación de la red se clasifican como hosts.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diagramas de redes a menudo usan símbolos para representar los diferentes dispositivos y conexiones que forman una red. 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 diagrama proporciona una manera fácil de comprender cómo se conectan los dispositivos en una red grande.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Los dos tipos de infraestructuras de red son las redes de área local (LAN) y las redes de área amplia (WAN).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conexiones a Internet de SOHO incluyen cable, DSL, celular, satélite y telefonía por Dial-up. 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conexiones a Internet de negocios incluyen Línea dedicada arrendada, Metro Ethernet, Business DSL y Satélite.</a:t>
            </a:r>
            <a:endParaRPr b="0" lang="es-ES" sz="16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CustomShape 1"/>
          <p:cNvSpPr/>
          <p:nvPr/>
        </p:nvSpPr>
        <p:spPr>
          <a:xfrm>
            <a:off x="87480" y="0"/>
            <a:ext cx="9055800" cy="68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Módulo de Práctica y Prueba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¿Qué aprendió en este módulo? (Cont.)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45" name="CustomShape 2"/>
          <p:cNvSpPr/>
          <p:nvPr/>
        </p:nvSpPr>
        <p:spPr>
          <a:xfrm>
            <a:off x="87480" y="688320"/>
            <a:ext cx="9055800" cy="38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2880" tIns="45000" bIns="45000">
            <a:noAutofit/>
          </a:bodyPr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arquitectura de red se refiere a las tecnologías que soportan la infraestructura y los servicios y reglas programadas, o protocolos, que mueven datos a través de la red.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Hay cuatro características básicas de la arquitectura de red: tolerancia a fallos, escalabilidad, calidad de servicio (QoS) y seguridad.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Tendencias recientes de redes que afectan a organizaciones y consumidores: Traiga su propio dispositivo (BYOD), colaboración en línea, videocomunicaciones y computación en la nube.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Existen varias amenazas externas e internas comunes a las redes.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Las redes más grandes y las redes corporativas utilizan antivirus, antispyware y filtrado de firewall, pero también tienen otros requisitos de seguridad: sistemas de firewall dedicados, listas de control de acceso (ACL), sistemas de prevención de intrusiones (IPS) y redes privadas virtuales (VPN).</a:t>
            </a:r>
            <a:endParaRPr b="0" lang="es-ES" sz="1600" spc="-1" strike="noStrike">
              <a:latin typeface="Arial"/>
            </a:endParaRPr>
          </a:p>
          <a:p>
            <a:pPr lvl="2" marL="431640" indent="-1692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s-419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 certificación Cisco Certified Network Associate (CCNA) demuestra su conocimiento de las tecnologías fundamentales.</a:t>
            </a:r>
            <a:endParaRPr b="0" lang="es-ES" sz="16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CustomShape 1"/>
          <p:cNvSpPr/>
          <p:nvPr/>
        </p:nvSpPr>
        <p:spPr>
          <a:xfrm>
            <a:off x="0" y="41400"/>
            <a:ext cx="9143280" cy="7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s-419" sz="1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Módulo 1 </a:t>
            </a:r>
            <a:br/>
            <a:r>
              <a:rPr b="0" lang="es-419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Nuevos términos y comandos</a:t>
            </a:r>
            <a:endParaRPr b="0" lang="es-ES" sz="2400" spc="-1" strike="noStrike">
              <a:latin typeface="Arial"/>
            </a:endParaRPr>
          </a:p>
        </p:txBody>
      </p:sp>
      <p:graphicFrame>
        <p:nvGraphicFramePr>
          <p:cNvPr id="547" name="Table 2"/>
          <p:cNvGraphicFramePr/>
          <p:nvPr/>
        </p:nvGraphicFramePr>
        <p:xfrm>
          <a:off x="144360" y="798480"/>
          <a:ext cx="8852760" cy="370440"/>
        </p:xfrm>
        <a:graphic>
          <a:graphicData uri="http://schemas.openxmlformats.org/drawingml/2006/table">
            <a:tbl>
              <a:tblPr/>
              <a:tblGrid>
                <a:gridCol w="2950920"/>
                <a:gridCol w="2950920"/>
                <a:gridCol w="2951280"/>
              </a:tblGrid>
              <a:tr h="370800">
                <a:tc>
                  <a:txBody>
                    <a:bodyPr>
                      <a:noAutofit/>
                    </a:bodyPr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Uso compartido de archivos entre pares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Oficinas pequeñas y oficinas en el hogar o SOHO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mediana a grande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Servidor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Cliente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Redes entre pares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Dispositivo final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Dispositivo intermediario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Medio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Tarjeta de interfaz de red (NIC)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Puerto físico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Interfaz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Diagrama topológico físico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58585b"/>
                      </a:solidFill>
                    </a:lnL>
                    <a:lnR w="12240">
                      <a:solidFill>
                        <a:srgbClr val="58585b"/>
                      </a:solidFill>
                    </a:lnR>
                    <a:lnT w="12240">
                      <a:solidFill>
                        <a:srgbClr val="58585b"/>
                      </a:solidFill>
                    </a:lnT>
                    <a:lnB w="12240">
                      <a:solidFill>
                        <a:srgbClr val="58585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Diagrama de topología lógica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de área local (LAN)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de área extensa (WAN)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Internet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Intranet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Extranet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Proveedor de servicios de Internet (ISP)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Redes convergentes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Arquitectura de redes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tolerante a fallas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conmutada por paquetes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conmutada por circuitos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 escalable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Calidad de servicio (QoS)</a:t>
                      </a: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58585b"/>
                      </a:solidFill>
                    </a:lnL>
                    <a:lnR w="12240">
                      <a:solidFill>
                        <a:srgbClr val="58585b"/>
                      </a:solidFill>
                    </a:lnR>
                    <a:lnT w="12240">
                      <a:solidFill>
                        <a:srgbClr val="58585b"/>
                      </a:solidFill>
                    </a:lnT>
                    <a:lnB w="12240">
                      <a:solidFill>
                        <a:srgbClr val="58585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Ancho de banda de red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Bring Your Own Device (BYOD)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Colaboración 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Computación en la nube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Nubes privadas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Nubes híbridas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Nubes públicas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Nubes personalizadas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Centro de datos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Tecnología del hogar inteligente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Redes por línea eléctrica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Proveedor de servicios de Internet inalámbricos (WISP)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 marL="173160" indent="-172440">
                        <a:lnSpc>
                          <a:spcPct val="100000"/>
                        </a:lnSpc>
                        <a:spcBef>
                          <a:spcPts val="201"/>
                        </a:spcBef>
                        <a:spcAft>
                          <a:spcPts val="201"/>
                        </a:spcAft>
                        <a:buClr>
                          <a:srgbClr val="58585b"/>
                        </a:buClr>
                        <a:buFont typeface="Arial"/>
                        <a:buChar char="•"/>
                      </a:pPr>
                      <a:r>
                        <a:rPr b="0" lang="es-419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Arquitectura de redes</a:t>
                      </a:r>
                      <a:endParaRPr b="0" lang="es-ES" sz="14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s-E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58585b"/>
                      </a:solidFill>
                    </a:lnL>
                    <a:lnR w="12240">
                      <a:solidFill>
                        <a:srgbClr val="58585b"/>
                      </a:solidFill>
                    </a:lnR>
                    <a:lnT w="12240">
                      <a:solidFill>
                        <a:srgbClr val="58585b"/>
                      </a:solidFill>
                    </a:lnT>
                    <a:lnB w="12240">
                      <a:solidFill>
                        <a:srgbClr val="58585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16037</TotalTime>
  <Application>LibreOffice/7.0.4.2$Linux_X86_64 LibreOffice_project/00$Build-2</Application>
  <AppVersion>15.0000</AppVersion>
  <Words>6651</Words>
  <Paragraphs>892</Paragraphs>
  <Company>Cisco Systems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2016-08-22T22:27:36Z</dcterms:created>
  <dc:creator>bvachon@cisco.com</dc:creator>
  <dc:description/>
  <dc:language>es-ES</dc:language>
  <cp:lastModifiedBy/>
  <dcterms:modified xsi:type="dcterms:W3CDTF">2026-09-24T17:59:55Z</dcterms:modified>
  <cp:revision>830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F9A496F7-57D7-4028-9572-D40DFDF3715A</vt:lpwstr>
  </property>
  <property fmtid="{D5CDD505-2E9C-101B-9397-08002B2CF9AE}" pid="3" name="ArticulatePath">
    <vt:lpwstr>ITE7_Chp9_by_jg</vt:lpwstr>
  </property>
  <property fmtid="{D5CDD505-2E9C-101B-9397-08002B2CF9AE}" pid="4" name="Jive_LatestUserAccountName">
    <vt:lpwstr>alljohns</vt:lpwstr>
  </property>
  <property fmtid="{D5CDD505-2E9C-101B-9397-08002B2CF9AE}" pid="5" name="Jive_VersionGuid">
    <vt:lpwstr>fd96a0b3-f68d-4727-8e4f-2128d37ed30a</vt:lpwstr>
  </property>
  <property fmtid="{D5CDD505-2E9C-101B-9397-08002B2CF9AE}" pid="6" name="Notes">
    <vt:i4>71</vt:i4>
  </property>
  <property fmtid="{D5CDD505-2E9C-101B-9397-08002B2CF9AE}" pid="7" name="Offisync_ProviderInitializationData">
    <vt:lpwstr>https://cisco.jiveon.com</vt:lpwstr>
  </property>
  <property fmtid="{D5CDD505-2E9C-101B-9397-08002B2CF9AE}" pid="8" name="Offisync_ServerID">
    <vt:lpwstr>07841bbc-cd3c-4a76-827f-75a2226890f4</vt:lpwstr>
  </property>
  <property fmtid="{D5CDD505-2E9C-101B-9397-08002B2CF9AE}" pid="9" name="Offisync_UniqueId">
    <vt:lpwstr>1702406</vt:lpwstr>
  </property>
  <property fmtid="{D5CDD505-2E9C-101B-9397-08002B2CF9AE}" pid="10" name="Offisync_UpdateToken">
    <vt:lpwstr>1</vt:lpwstr>
  </property>
  <property fmtid="{D5CDD505-2E9C-101B-9397-08002B2CF9AE}" pid="11" name="PresentationFormat">
    <vt:lpwstr>On-screen Show (16:9)</vt:lpwstr>
  </property>
  <property fmtid="{D5CDD505-2E9C-101B-9397-08002B2CF9AE}" pid="12" name="Slides">
    <vt:i4>74</vt:i4>
  </property>
</Properties>
</file>